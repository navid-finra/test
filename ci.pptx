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6" r:id="rId8"/>
    <p:sldId id="265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7F382-7855-B381-AF82-7524E0906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7BB67-77E7-F9B2-EDA1-3F6DF7DDA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2E24D-A760-CACE-6F7C-5AD28A924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2A4D-F218-AA47-890A-2B20B0B1AF3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3CAD4-831F-0857-866A-35F2561A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3EBFF-81E4-E302-E2F2-9530C9EA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784D-8FFD-1C4C-8443-A6976AEF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59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C98D-EEE5-88A2-1FB2-257CB1401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F5768-F04F-0761-713D-EBE88FB7E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2961B-DD8F-9D01-A97B-A81E511B8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2A4D-F218-AA47-890A-2B20B0B1AF3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58C6A-9CDF-5DB9-D23E-0A580D44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049D8-1314-D2F1-B72F-08D873B5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784D-8FFD-1C4C-8443-A6976AEF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9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64F7C-E3F4-6C27-453F-C850D4AAA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46CCC-A57C-DBC4-ABCB-398F309A9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C3E1A-602F-723F-D746-3C831542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2A4D-F218-AA47-890A-2B20B0B1AF3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3318D-C9AE-FD78-B1A3-F56DAF70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9DC48-4215-972E-6F4E-429B6CF3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784D-8FFD-1C4C-8443-A6976AEF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040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0174-BE28-0060-776A-EB390251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95A9E-CDCC-4918-6F0A-765430E57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90A63-6E78-6E23-1544-096D91CB1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D451E-7EC0-817A-BA37-E2190687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2A4D-F218-AA47-890A-2B20B0B1AF3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BF6D6-04CB-F2F7-4171-46F8FFFB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A9D94-4C61-4CCA-FD9D-82B62EAA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784D-8FFD-1C4C-8443-A6976AEF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7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5066D-F34F-91F6-C811-780ECA086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0ECAA-D90A-6D2C-48D2-42607F4B1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F38AA-5283-1D95-D017-ED81DFC05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A3FCF9-64FE-B38C-81AF-600E243FC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D558E1-9242-E70E-367E-6806AFB89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47E81-1045-8216-8887-CD714D219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2A4D-F218-AA47-890A-2B20B0B1AF3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076D2B-524C-9E31-A71D-9FE012D99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3C6312-9073-EEA8-DABA-EF24239C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784D-8FFD-1C4C-8443-A6976AEF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43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483CA-0A4B-3869-6117-A336F7F9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454CBB-4253-A021-C6BD-044CC80E5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2A4D-F218-AA47-890A-2B20B0B1AF3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C8187-97E9-2B6E-82C4-6BAD36905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8A7B56-F511-338C-3BF6-9B276915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784D-8FFD-1C4C-8443-A6976AEF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75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680A1-E563-AD90-0E9C-3BB9395C9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2A4D-F218-AA47-890A-2B20B0B1AF3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C476B-C41C-1428-B99C-947F9125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6B219-3991-940C-EACE-22576E470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784D-8FFD-1C4C-8443-A6976AEF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2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1543-CEAC-6975-B40B-4BC323A60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20752-AF9A-08AA-AB45-DB885B425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FA1AC1-9321-85EC-27DF-A7709C57C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F4EC3-C6AA-4ED5-370A-8891B38E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2A4D-F218-AA47-890A-2B20B0B1AF3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5CE5B-8EBC-DB50-8511-F06F053F1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72C34-AF88-FC4D-069E-17E5F4ED4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784D-8FFD-1C4C-8443-A6976AEF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12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8C4AA-4097-62DA-CD29-553829196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A41CC-11AB-3134-3BE2-AF92E32C8E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531E2-34C5-564C-1EDD-6483A992B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C395E-6CE0-10F2-8D83-F5B66811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2A4D-F218-AA47-890A-2B20B0B1AF3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3ABFD-F714-A5FA-0901-C6499CC0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5210E-E85A-8C08-B16D-7E472F93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784D-8FFD-1C4C-8443-A6976AEF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6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F59D-A954-8BDD-53D6-DE6F479C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867BC-C34E-0003-64B9-03150B2F2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16500-1B3E-101F-11AF-C7A93A86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2A4D-F218-AA47-890A-2B20B0B1AF3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48E02-A16B-C35D-4C75-C8394787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29D3-09A4-196E-EBDB-3AC27AF3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784D-8FFD-1C4C-8443-A6976AEF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6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C76139-4618-F1F5-6EE0-375A509028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8CEDD-CD5F-43A3-36B2-4B3B2CADA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067D2-AFB9-2699-ECA3-235CAF8E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2A4D-F218-AA47-890A-2B20B0B1AF3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2B554-7B86-F7E3-43C5-7A53C4C6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5CD18-9F03-225B-3662-288FD730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B784D-8FFD-1C4C-8443-A6976AEF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17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E47DE0-5161-897B-D7FB-A9ED9DD3A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0B38E-765F-073E-363C-1B94CD6EC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A2DEA-7760-BFB0-864C-ADA9B0E65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FB2A4D-F218-AA47-890A-2B20B0B1AF3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6AC3C-BF3C-C4F9-8708-0C19263F5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15FB8-0FDA-6EE7-4315-A6E5B555D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0B784D-8FFD-1C4C-8443-A6976AEF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15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C675DA9-B641-E152-BB80-2328486D04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15"/>
          <a:stretch>
            <a:fillRect/>
          </a:stretch>
        </p:blipFill>
        <p:spPr bwMode="auto">
          <a:xfrm>
            <a:off x="1392709" y="729049"/>
            <a:ext cx="9406582" cy="4066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8CDD72-E3C3-614E-C05F-D953B0C9224B}"/>
              </a:ext>
            </a:extLst>
          </p:cNvPr>
          <p:cNvSpPr txBox="1"/>
          <p:nvPr/>
        </p:nvSpPr>
        <p:spPr>
          <a:xfrm>
            <a:off x="688889" y="1146760"/>
            <a:ext cx="761485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this use case create a defensible competitive edge (e.g., credit decisioning, fraud strategy, client advisory)?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Degree of control needed over data, prompts, models, logs; ability to meet SR 11-7, model risk, AML/KYC, privacy, audit, SOX.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well the option plugs into core systems, APIs, ESB, event bus, observability, and existing workflow engines.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we have the people and operating model to build, run, and support it (LLM engineers, </a:t>
            </a:r>
            <a:r>
              <a:rPr lang="en-US" dirty="0" err="1"/>
              <a:t>MLOps</a:t>
            </a:r>
            <a:r>
              <a:rPr lang="en-US" dirty="0"/>
              <a:t>, SRE, product owners)?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TCO over 3–5 years vs speed: build cost, run, vendor fees, infra, and expected payback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this solution be reused across multiple LOBs/use cases (platform vs one-off pilot)?</a:t>
            </a:r>
          </a:p>
        </p:txBody>
      </p:sp>
    </p:spTree>
    <p:extLst>
      <p:ext uri="{BB962C8B-B14F-4D97-AF65-F5344CB8AC3E}">
        <p14:creationId xmlns:p14="http://schemas.microsoft.com/office/powerpoint/2010/main" val="428255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F60EB01-29C9-6ECA-9A5D-C3D954903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724" y="278027"/>
            <a:ext cx="6301946" cy="630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94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E59A59-8421-751E-D6E4-8F07110AF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871198"/>
              </p:ext>
            </p:extLst>
          </p:nvPr>
        </p:nvGraphicFramePr>
        <p:xfrm>
          <a:off x="528952" y="707883"/>
          <a:ext cx="10905068" cy="401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317">
                  <a:extLst>
                    <a:ext uri="{9D8B030D-6E8A-4147-A177-3AD203B41FA5}">
                      <a16:colId xmlns:a16="http://schemas.microsoft.com/office/drawing/2014/main" val="4058217831"/>
                    </a:ext>
                  </a:extLst>
                </a:gridCol>
                <a:gridCol w="1688214">
                  <a:extLst>
                    <a:ext uri="{9D8B030D-6E8A-4147-A177-3AD203B41FA5}">
                      <a16:colId xmlns:a16="http://schemas.microsoft.com/office/drawing/2014/main" val="3288318969"/>
                    </a:ext>
                  </a:extLst>
                </a:gridCol>
                <a:gridCol w="4251476">
                  <a:extLst>
                    <a:ext uri="{9D8B030D-6E8A-4147-A177-3AD203B41FA5}">
                      <a16:colId xmlns:a16="http://schemas.microsoft.com/office/drawing/2014/main" val="1883081407"/>
                    </a:ext>
                  </a:extLst>
                </a:gridCol>
                <a:gridCol w="682322">
                  <a:extLst>
                    <a:ext uri="{9D8B030D-6E8A-4147-A177-3AD203B41FA5}">
                      <a16:colId xmlns:a16="http://schemas.microsoft.com/office/drawing/2014/main" val="3620703879"/>
                    </a:ext>
                  </a:extLst>
                </a:gridCol>
                <a:gridCol w="4050739">
                  <a:extLst>
                    <a:ext uri="{9D8B030D-6E8A-4147-A177-3AD203B41FA5}">
                      <a16:colId xmlns:a16="http://schemas.microsoft.com/office/drawing/2014/main" val="520549921"/>
                    </a:ext>
                  </a:extLst>
                </a:gridCol>
              </a:tblGrid>
              <a:tr h="2946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#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Factor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Description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Weight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Scoring Guide (1–5)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200722"/>
                  </a:ext>
                </a:extLst>
              </a:tr>
              <a:tr h="6906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Strategic Differentiation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Does this use case create a defensible competitive edge (e.g., credit decisioning, fraud strategy, client advisory)?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25%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 = commodity; 3 = moderate; 5 = core differentiator tied to bank’s strategy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extLst>
                  <a:ext uri="{0D108BD9-81ED-4DB2-BD59-A6C34878D82A}">
                    <a16:rowId xmlns:a16="http://schemas.microsoft.com/office/drawing/2014/main" val="835373991"/>
                  </a:ext>
                </a:extLst>
              </a:tr>
              <a:tr h="6906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Risk, Compliance &amp; Control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Degree of control needed over data, prompts, models, logs; ability to meet SR 11-7, model risk, AML/KYC, privacy, audit, SOX.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25%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 = vendor/control gaps; 3 = some mitigations; 5 = full, bank-grade control and oversight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extLst>
                  <a:ext uri="{0D108BD9-81ED-4DB2-BD59-A6C34878D82A}">
                    <a16:rowId xmlns:a16="http://schemas.microsoft.com/office/drawing/2014/main" val="2425343271"/>
                  </a:ext>
                </a:extLst>
              </a:tr>
              <a:tr h="6906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Tech &amp; Integration Fit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How well the option plugs into core systems, APIs, ESB, event bus, observability, and existing workflow engines.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20%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 = heavy custom glue; 3 = moderate integration; 5 = native or near-native fit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extLst>
                  <a:ext uri="{0D108BD9-81ED-4DB2-BD59-A6C34878D82A}">
                    <a16:rowId xmlns:a16="http://schemas.microsoft.com/office/drawing/2014/main" val="3477564386"/>
                  </a:ext>
                </a:extLst>
              </a:tr>
              <a:tr h="6906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Talent &amp; Operating Model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Do we have the people and operating model to build, run, and support it (LLM engineers, </a:t>
                      </a:r>
                      <a:r>
                        <a:rPr lang="en-US" sz="1400" u="none" strike="noStrike" dirty="0" err="1">
                          <a:effectLst/>
                        </a:rPr>
                        <a:t>MLOps</a:t>
                      </a:r>
                      <a:r>
                        <a:rPr lang="en-US" sz="1400" u="none" strike="noStrike" dirty="0">
                          <a:effectLst/>
                        </a:rPr>
                        <a:t>, SRE, product owners)?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15%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 = major gaps; 3 = some team but stretched; 5 = strong, dedicated capability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extLst>
                  <a:ext uri="{0D108BD9-81ED-4DB2-BD59-A6C34878D82A}">
                    <a16:rowId xmlns:a16="http://schemas.microsoft.com/office/drawing/2014/main" val="3466615394"/>
                  </a:ext>
                </a:extLst>
              </a:tr>
              <a:tr h="4788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Economics &amp; Time-to-Value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TCO over 3–5 years vs speed: build cost, run, vendor fees, infra, and expected payback period.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 = negative ROI or &gt;3 yr payback; 3 = borderline; 5 = strong ROI and &lt;18 </a:t>
                      </a:r>
                      <a:r>
                        <a:rPr lang="en-US" sz="1400" u="none" strike="noStrike" dirty="0" err="1">
                          <a:effectLst/>
                        </a:rPr>
                        <a:t>mo</a:t>
                      </a:r>
                      <a:r>
                        <a:rPr lang="en-US" sz="1400" u="none" strike="noStrike" dirty="0">
                          <a:effectLst/>
                        </a:rPr>
                        <a:t> payback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extLst>
                  <a:ext uri="{0D108BD9-81ED-4DB2-BD59-A6C34878D82A}">
                    <a16:rowId xmlns:a16="http://schemas.microsoft.com/office/drawing/2014/main" val="3195157892"/>
                  </a:ext>
                </a:extLst>
              </a:tr>
              <a:tr h="47889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Reuse &amp; Platform Leverage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Can this solution be reused across multiple LOBs/use cases (platform vs one-off pilot)?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5%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 = one-off; 3 = some reuse; 5 = high reuse / shared platform potential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540" marR="4540" marT="4540" marB="0" anchor="b"/>
                </a:tc>
                <a:extLst>
                  <a:ext uri="{0D108BD9-81ED-4DB2-BD59-A6C34878D82A}">
                    <a16:rowId xmlns:a16="http://schemas.microsoft.com/office/drawing/2014/main" val="31561515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BDE190A-296F-01B4-B402-B704A5D5669F}"/>
              </a:ext>
            </a:extLst>
          </p:cNvPr>
          <p:cNvSpPr txBox="1"/>
          <p:nvPr/>
        </p:nvSpPr>
        <p:spPr>
          <a:xfrm>
            <a:off x="1952368" y="4891804"/>
            <a:ext cx="8686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On a </a:t>
            </a:r>
            <a:r>
              <a:rPr lang="en-US" b="1" dirty="0"/>
              <a:t>1–5 scale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&lt; 3.0</a:t>
            </a:r>
            <a:r>
              <a:rPr lang="en-US" dirty="0"/>
              <a:t> → ❌ </a:t>
            </a:r>
            <a:r>
              <a:rPr lang="en-US" i="1" dirty="0"/>
              <a:t>Do not choose</a:t>
            </a:r>
            <a:r>
              <a:rPr lang="en-US" dirty="0"/>
              <a:t> (solution is weak / misfit)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3.0 – 3.6</a:t>
            </a:r>
            <a:r>
              <a:rPr lang="en-US" dirty="0"/>
              <a:t> → 🤔 </a:t>
            </a:r>
            <a:r>
              <a:rPr lang="en-US" i="1" dirty="0"/>
              <a:t>Viable but marginal</a:t>
            </a:r>
            <a:r>
              <a:rPr lang="en-US" dirty="0"/>
              <a:t> – only pick if it’s clearly better than others or a stopgap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3.7 – 4.3</a:t>
            </a:r>
            <a:r>
              <a:rPr lang="en-US" dirty="0"/>
              <a:t> → ✅ </a:t>
            </a:r>
            <a:r>
              <a:rPr lang="en-US" i="1" dirty="0"/>
              <a:t>Strong fit</a:t>
            </a:r>
            <a:r>
              <a:rPr lang="en-US" dirty="0"/>
              <a:t> – good candidate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&gt; 4.3</a:t>
            </a:r>
            <a:r>
              <a:rPr lang="en-US" dirty="0"/>
              <a:t> → ⭐ </a:t>
            </a:r>
            <a:r>
              <a:rPr lang="en-US" i="1" dirty="0"/>
              <a:t>Strategic fit</a:t>
            </a:r>
            <a:r>
              <a:rPr lang="en-US" dirty="0"/>
              <a:t> – very strong, likely preferred if risk/compliance is OK</a:t>
            </a:r>
          </a:p>
        </p:txBody>
      </p:sp>
    </p:spTree>
    <p:extLst>
      <p:ext uri="{BB962C8B-B14F-4D97-AF65-F5344CB8AC3E}">
        <p14:creationId xmlns:p14="http://schemas.microsoft.com/office/powerpoint/2010/main" val="3106892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FF49-6C40-F4E9-7989-2018F5608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95" y="125249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Salesforce (</a:t>
            </a:r>
            <a:r>
              <a:rPr lang="en-US" b="1" dirty="0" err="1">
                <a:solidFill>
                  <a:schemeClr val="accent3"/>
                </a:solidFill>
              </a:rPr>
              <a:t>Agentforce</a:t>
            </a:r>
            <a:r>
              <a:rPr lang="en-US" b="1" dirty="0">
                <a:solidFill>
                  <a:schemeClr val="accent3"/>
                </a:solidFill>
              </a:rPr>
              <a:t> / Einstein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0687B-25FD-B089-C715-9F2F51A68B4F}"/>
              </a:ext>
            </a:extLst>
          </p:cNvPr>
          <p:cNvSpPr txBox="1"/>
          <p:nvPr/>
        </p:nvSpPr>
        <p:spPr>
          <a:xfrm>
            <a:off x="932446" y="1200494"/>
            <a:ext cx="109788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400" b="1" dirty="0" err="1"/>
              <a:t>Agentforce</a:t>
            </a:r>
            <a:r>
              <a:rPr lang="en-US" sz="1400" dirty="0"/>
              <a:t> provides autonomous agents that can answer questions, take actions, and orchestrate tasks across Salesforce (Sales/Service/Marketing/Commerce) using your CRM data.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dirty="0"/>
              <a:t>Deeply tied to customer 360, sales/service workflows and can trigger flows, update records, and interact with external systems via Salesforce integrations and Flow.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9689CD-6EF8-CC20-E466-0861BC662E3C}"/>
              </a:ext>
            </a:extLst>
          </p:cNvPr>
          <p:cNvSpPr txBox="1"/>
          <p:nvPr/>
        </p:nvSpPr>
        <p:spPr>
          <a:xfrm>
            <a:off x="932446" y="2154601"/>
            <a:ext cx="52999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rgbClr val="00B050"/>
                </a:solidFill>
              </a:rPr>
              <a:t>Pros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Excellent for </a:t>
            </a:r>
            <a:r>
              <a:rPr lang="en-US" sz="1000" b="1" dirty="0">
                <a:solidFill>
                  <a:srgbClr val="00B050"/>
                </a:solidFill>
              </a:rPr>
              <a:t>front-office use cases</a:t>
            </a:r>
            <a:r>
              <a:rPr lang="en-US" sz="1000" dirty="0">
                <a:solidFill>
                  <a:srgbClr val="00B050"/>
                </a:solidFill>
              </a:rPr>
              <a:t>: agentic sales assistants, service agents, call-center co-pilots, case triage, cross-sell/upsell journeys.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Strong ecosystem, security posture, and large partner network; Salesforce very used in FS.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Native </a:t>
            </a:r>
            <a:r>
              <a:rPr lang="en-US" sz="1000" b="1" dirty="0">
                <a:solidFill>
                  <a:srgbClr val="00B050"/>
                </a:solidFill>
              </a:rPr>
              <a:t>data access control</a:t>
            </a:r>
            <a:r>
              <a:rPr lang="en-US" sz="1000" dirty="0">
                <a:solidFill>
                  <a:srgbClr val="00B050"/>
                </a:solidFill>
              </a:rPr>
              <a:t>, approval workflows, and auditability within Salesforce objects.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Multi-agent roadmap and deep integration with OpenAI/Anthropic models via secure Salesforce cloud.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AEE084-1DB4-EA04-C33F-44AB779F734E}"/>
              </a:ext>
            </a:extLst>
          </p:cNvPr>
          <p:cNvSpPr txBox="1"/>
          <p:nvPr/>
        </p:nvSpPr>
        <p:spPr>
          <a:xfrm>
            <a:off x="6490033" y="2154601"/>
            <a:ext cx="51635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Cons / Risks</a:t>
            </a:r>
            <a:endParaRPr lang="en-US" sz="1000" dirty="0">
              <a:solidFill>
                <a:schemeClr val="accent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Primarily powerful </a:t>
            </a:r>
            <a:r>
              <a:rPr lang="en-US" sz="1000" b="1" dirty="0">
                <a:solidFill>
                  <a:schemeClr val="accent2"/>
                </a:solidFill>
              </a:rPr>
              <a:t>within the Salesforce estate</a:t>
            </a:r>
            <a:r>
              <a:rPr lang="en-US" sz="1000" dirty="0">
                <a:solidFill>
                  <a:schemeClr val="accent2"/>
                </a:solidFill>
              </a:rPr>
              <a:t>—less ideal as the </a:t>
            </a:r>
            <a:r>
              <a:rPr lang="en-US" sz="1000" i="1" dirty="0">
                <a:solidFill>
                  <a:schemeClr val="accent2"/>
                </a:solidFill>
              </a:rPr>
              <a:t>only</a:t>
            </a:r>
            <a:r>
              <a:rPr lang="en-US" sz="1000" dirty="0">
                <a:solidFill>
                  <a:schemeClr val="accent2"/>
                </a:solidFill>
              </a:rPr>
              <a:t> enterprise-wide orchestrator.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Licensing + usage costs can be substantial across thousands of users.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Deep customer-data use triggers </a:t>
            </a:r>
            <a:r>
              <a:rPr lang="en-US" sz="1000" b="1" dirty="0">
                <a:solidFill>
                  <a:schemeClr val="accent2"/>
                </a:solidFill>
              </a:rPr>
              <a:t>model risk, explainability, and fair-lending</a:t>
            </a:r>
            <a:r>
              <a:rPr lang="en-US" sz="1000" dirty="0">
                <a:solidFill>
                  <a:schemeClr val="accent2"/>
                </a:solidFill>
              </a:rPr>
              <a:t> concerns for some use cases.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94D3765-4B89-AF59-D145-81C1AEEE4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412659"/>
              </p:ext>
            </p:extLst>
          </p:nvPr>
        </p:nvGraphicFramePr>
        <p:xfrm>
          <a:off x="630195" y="3687737"/>
          <a:ext cx="9564129" cy="27501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1032">
                  <a:extLst>
                    <a:ext uri="{9D8B030D-6E8A-4147-A177-3AD203B41FA5}">
                      <a16:colId xmlns:a16="http://schemas.microsoft.com/office/drawing/2014/main" val="2320688713"/>
                    </a:ext>
                  </a:extLst>
                </a:gridCol>
                <a:gridCol w="1365329">
                  <a:extLst>
                    <a:ext uri="{9D8B030D-6E8A-4147-A177-3AD203B41FA5}">
                      <a16:colId xmlns:a16="http://schemas.microsoft.com/office/drawing/2014/main" val="509775757"/>
                    </a:ext>
                  </a:extLst>
                </a:gridCol>
                <a:gridCol w="1760794">
                  <a:extLst>
                    <a:ext uri="{9D8B030D-6E8A-4147-A177-3AD203B41FA5}">
                      <a16:colId xmlns:a16="http://schemas.microsoft.com/office/drawing/2014/main" val="3027447076"/>
                    </a:ext>
                  </a:extLst>
                </a:gridCol>
                <a:gridCol w="4046974">
                  <a:extLst>
                    <a:ext uri="{9D8B030D-6E8A-4147-A177-3AD203B41FA5}">
                      <a16:colId xmlns:a16="http://schemas.microsoft.com/office/drawing/2014/main" val="275061366"/>
                    </a:ext>
                  </a:extLst>
                </a:gridCol>
              </a:tblGrid>
              <a:tr h="1912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Factor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Weight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Score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Comment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400718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Strategic Differentiation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Strong differentiation for customer experience but not a full enterprise agent layer.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237912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Risk, Compliance &amp; Control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Mature FS controls; still needs tight governance for AI-driven recommendations.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586305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Tech &amp; Integration Fit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Great inside Salesforce; decent outward via APIs/Flow/Events but not a universal orchestrator.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29809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Talent &amp; Operating Model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Banks already have Salesforce admins/devs; can upskill to Agentforce config.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537250"/>
                  </a:ext>
                </a:extLst>
              </a:tr>
              <a:tr h="3494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Economics &amp; Time-to-Value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10%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Fast value where Salesforce is core; cost can spike at scale.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81738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Reuse &amp; Platform Leverage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Reusable across many CRM/service use cases; less so for pure back-office.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20795"/>
                  </a:ext>
                </a:extLst>
              </a:tr>
            </a:tbl>
          </a:graphicData>
        </a:graphic>
      </p:graphicFrame>
      <p:pic>
        <p:nvPicPr>
          <p:cNvPr id="4098" name="Picture 2" descr="18,300+ Yes Icon Stock Illustrations ...">
            <a:extLst>
              <a:ext uri="{FF2B5EF4-FFF2-40B4-BE49-F238E27FC236}">
                <a16:creationId xmlns:a16="http://schemas.microsoft.com/office/drawing/2014/main" id="{D4FB994C-3F19-2A2F-6CEA-AF1A6B168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10581674" y="3954828"/>
            <a:ext cx="980131" cy="110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A52C9D-0216-3E1C-60ED-61EE9B44DE73}"/>
              </a:ext>
            </a:extLst>
          </p:cNvPr>
          <p:cNvSpPr txBox="1"/>
          <p:nvPr/>
        </p:nvSpPr>
        <p:spPr>
          <a:xfrm>
            <a:off x="10554094" y="4878136"/>
            <a:ext cx="122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Score: 3.9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8C626-CD49-83F1-11F5-F5B6EAAA50A4}"/>
              </a:ext>
            </a:extLst>
          </p:cNvPr>
          <p:cNvSpPr txBox="1"/>
          <p:nvPr/>
        </p:nvSpPr>
        <p:spPr>
          <a:xfrm>
            <a:off x="10581674" y="5247468"/>
            <a:ext cx="1411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 </a:t>
            </a:r>
            <a:r>
              <a:rPr lang="en-US" sz="1400" i="1" dirty="0"/>
              <a:t>Strong fit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340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C8021-D684-8575-A95B-13AEC224B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DADD-4A81-97F2-2706-01D7BB5E2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95" y="125249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UiPath (Autopilot + Agent Builder)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D54FD-2191-AC41-6BEF-12A3878A160F}"/>
              </a:ext>
            </a:extLst>
          </p:cNvPr>
          <p:cNvSpPr txBox="1"/>
          <p:nvPr/>
        </p:nvSpPr>
        <p:spPr>
          <a:xfrm>
            <a:off x="932446" y="1200494"/>
            <a:ext cx="109788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400" b="1" dirty="0"/>
              <a:t>Autopilot</a:t>
            </a:r>
            <a:r>
              <a:rPr lang="en-US" sz="1400" dirty="0"/>
              <a:t> brings generative AI into UiPath for developers, testers, analysts and “everyone,” helping build automations, generate workflows, and describe changes in natural language.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b="1" dirty="0"/>
              <a:t>UiPath Agent Builder</a:t>
            </a:r>
            <a:r>
              <a:rPr lang="en-US" sz="1400" dirty="0"/>
              <a:t> allows low-code creation of specialized enterprise agents that can understand context, make decisions, and execute complex processes while using UiPath’s enterprise-grade security and governance.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FE5CDC-4DEC-21FC-B9D7-BDC13C194F68}"/>
              </a:ext>
            </a:extLst>
          </p:cNvPr>
          <p:cNvSpPr txBox="1"/>
          <p:nvPr/>
        </p:nvSpPr>
        <p:spPr>
          <a:xfrm>
            <a:off x="932446" y="2154601"/>
            <a:ext cx="52999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rgbClr val="00B050"/>
                </a:solidFill>
              </a:rPr>
              <a:t>Pros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Very strong fit for </a:t>
            </a:r>
            <a:r>
              <a:rPr lang="en-US" sz="1000" b="1" dirty="0">
                <a:solidFill>
                  <a:srgbClr val="00B050"/>
                </a:solidFill>
              </a:rPr>
              <a:t>back-office, operations, and middle-office</a:t>
            </a:r>
            <a:r>
              <a:rPr lang="en-US" sz="1000" dirty="0">
                <a:solidFill>
                  <a:srgbClr val="00B050"/>
                </a:solidFill>
              </a:rPr>
              <a:t> flows already automated or RPA-friendly.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Governance, logs, approvals, and exception handling are </a:t>
            </a:r>
            <a:r>
              <a:rPr lang="en-US" sz="1000" b="1" dirty="0">
                <a:solidFill>
                  <a:srgbClr val="00B050"/>
                </a:solidFill>
              </a:rPr>
              <a:t>well understood</a:t>
            </a:r>
            <a:r>
              <a:rPr lang="en-US" sz="1000" dirty="0">
                <a:solidFill>
                  <a:srgbClr val="00B050"/>
                </a:solidFill>
              </a:rPr>
              <a:t> in banks using UiPath RPA today.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Agent Builder + Orchestrator give you an </a:t>
            </a:r>
            <a:r>
              <a:rPr lang="en-US" sz="1000" b="1" dirty="0">
                <a:solidFill>
                  <a:srgbClr val="00B050"/>
                </a:solidFill>
              </a:rPr>
              <a:t>agentic control layer</a:t>
            </a:r>
            <a:r>
              <a:rPr lang="en-US" sz="1000" dirty="0">
                <a:solidFill>
                  <a:srgbClr val="00B050"/>
                </a:solidFill>
              </a:rPr>
              <a:t> across many legacy systems.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B7F035-5A42-53A3-D4EF-7ECA189A3F84}"/>
              </a:ext>
            </a:extLst>
          </p:cNvPr>
          <p:cNvSpPr txBox="1"/>
          <p:nvPr/>
        </p:nvSpPr>
        <p:spPr>
          <a:xfrm>
            <a:off x="6490033" y="2154601"/>
            <a:ext cx="51635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Cons / Risks</a:t>
            </a:r>
            <a:endParaRPr lang="en-US" sz="1000" dirty="0">
              <a:solidFill>
                <a:schemeClr val="accent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Best suited where you already have UiPath widely deployed; otherwise, integration/skill ramp needed.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Less focused on knowledge-centric workflows (e.g., deep knowledge search) vs workflow/RPA-centric use cases.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Complex estate of bots/agents can become hard to govern without strong </a:t>
            </a:r>
            <a:r>
              <a:rPr lang="en-US" sz="1000" dirty="0" err="1">
                <a:solidFill>
                  <a:schemeClr val="accent2"/>
                </a:solidFill>
              </a:rPr>
              <a:t>CoE</a:t>
            </a:r>
            <a:r>
              <a:rPr lang="en-US" sz="1000" dirty="0">
                <a:solidFill>
                  <a:schemeClr val="accent2"/>
                </a:solidFill>
              </a:rPr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5F27B7-64B5-C603-933E-23C597E4A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010061"/>
              </p:ext>
            </p:extLst>
          </p:nvPr>
        </p:nvGraphicFramePr>
        <p:xfrm>
          <a:off x="630195" y="3687737"/>
          <a:ext cx="9564129" cy="2775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1032">
                  <a:extLst>
                    <a:ext uri="{9D8B030D-6E8A-4147-A177-3AD203B41FA5}">
                      <a16:colId xmlns:a16="http://schemas.microsoft.com/office/drawing/2014/main" val="2320688713"/>
                    </a:ext>
                  </a:extLst>
                </a:gridCol>
                <a:gridCol w="1365329">
                  <a:extLst>
                    <a:ext uri="{9D8B030D-6E8A-4147-A177-3AD203B41FA5}">
                      <a16:colId xmlns:a16="http://schemas.microsoft.com/office/drawing/2014/main" val="509775757"/>
                    </a:ext>
                  </a:extLst>
                </a:gridCol>
                <a:gridCol w="1760794">
                  <a:extLst>
                    <a:ext uri="{9D8B030D-6E8A-4147-A177-3AD203B41FA5}">
                      <a16:colId xmlns:a16="http://schemas.microsoft.com/office/drawing/2014/main" val="3027447076"/>
                    </a:ext>
                  </a:extLst>
                </a:gridCol>
                <a:gridCol w="4046974">
                  <a:extLst>
                    <a:ext uri="{9D8B030D-6E8A-4147-A177-3AD203B41FA5}">
                      <a16:colId xmlns:a16="http://schemas.microsoft.com/office/drawing/2014/main" val="275061366"/>
                    </a:ext>
                  </a:extLst>
                </a:gridCol>
              </a:tblGrid>
              <a:tr h="1912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Factor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Weight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Score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Comment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400718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Strategic Differentiation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Big differentiator in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operational efficiency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for KYC, ops, reconciliations, etc.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237912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Risk, Compliance &amp; Control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 enterprise controls, logging, RBAC; already accepted in many banks.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586305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&amp; Integration Fit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Excellent where UiPath is entrenched; multiple connectors to core/batch/legacy.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29809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Talent &amp; Operating Model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Many banks have RPA CoEs; easy upsell to agentic.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537250"/>
                  </a:ext>
                </a:extLst>
              </a:tr>
              <a:tr h="3494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Economics &amp; Time-to-Value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Good ROI when piggybacking existing automation; moderate license cost.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81738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Reuse &amp; Platform Leverage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RPA+agents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become a shared “digital workforce” across functions.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20795"/>
                  </a:ext>
                </a:extLst>
              </a:tr>
            </a:tbl>
          </a:graphicData>
        </a:graphic>
      </p:graphicFrame>
      <p:pic>
        <p:nvPicPr>
          <p:cNvPr id="4" name="Picture 2" descr="18,300+ Yes Icon Stock Illustrations ...">
            <a:extLst>
              <a:ext uri="{FF2B5EF4-FFF2-40B4-BE49-F238E27FC236}">
                <a16:creationId xmlns:a16="http://schemas.microsoft.com/office/drawing/2014/main" id="{44993CEA-3577-88C5-C9C7-8C7F5B2A15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10581674" y="3954828"/>
            <a:ext cx="980131" cy="110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31B71A-EA20-7CC1-68F9-48ECBC312424}"/>
              </a:ext>
            </a:extLst>
          </p:cNvPr>
          <p:cNvSpPr txBox="1"/>
          <p:nvPr/>
        </p:nvSpPr>
        <p:spPr>
          <a:xfrm>
            <a:off x="10554094" y="4878136"/>
            <a:ext cx="1347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Score: 4.15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71C339-2D77-427A-D43D-F7808291F3B4}"/>
              </a:ext>
            </a:extLst>
          </p:cNvPr>
          <p:cNvSpPr txBox="1"/>
          <p:nvPr/>
        </p:nvSpPr>
        <p:spPr>
          <a:xfrm>
            <a:off x="10581674" y="5247468"/>
            <a:ext cx="1411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 </a:t>
            </a:r>
            <a:r>
              <a:rPr lang="en-US" sz="1400" i="1" dirty="0"/>
              <a:t>Strong fit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374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4E4B9-F99B-C788-DBDE-5231EE9F7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97BFF-E236-0F29-177A-00381A036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95" y="125249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Oracle HCM (Oracle AI for HCM)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2AECA-B29E-1D43-39C6-60DF88F20863}"/>
              </a:ext>
            </a:extLst>
          </p:cNvPr>
          <p:cNvSpPr txBox="1"/>
          <p:nvPr/>
        </p:nvSpPr>
        <p:spPr>
          <a:xfrm>
            <a:off x="932446" y="1200494"/>
            <a:ext cx="109788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400" dirty="0"/>
              <a:t>Oracle AI for HCM embeds traditional + generative AI into HR processes: hiring, talent management, career development, and HR service delivery.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dirty="0"/>
              <a:t>Typical behaviors: draft job descriptions, summarize employee info, suggest career paths, assist managers with performance/talent actions.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21AD6-1B0E-4AA4-CE0C-8BD84513F557}"/>
              </a:ext>
            </a:extLst>
          </p:cNvPr>
          <p:cNvSpPr txBox="1"/>
          <p:nvPr/>
        </p:nvSpPr>
        <p:spPr>
          <a:xfrm>
            <a:off x="932446" y="2154601"/>
            <a:ext cx="52999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rgbClr val="00B050"/>
                </a:solidFill>
              </a:rPr>
              <a:t>Pros</a:t>
            </a:r>
            <a:r>
              <a:rPr lang="en-US" sz="1000" b="1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Deeply integrated with </a:t>
            </a:r>
            <a:r>
              <a:rPr lang="en-US" sz="1000" b="1" dirty="0">
                <a:solidFill>
                  <a:srgbClr val="00B050"/>
                </a:solidFill>
              </a:rPr>
              <a:t>core HR data</a:t>
            </a:r>
            <a:r>
              <a:rPr lang="en-US" sz="1000" dirty="0">
                <a:solidFill>
                  <a:srgbClr val="00B050"/>
                </a:solidFill>
              </a:rPr>
              <a:t> (single HCM suite).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Oracle emphasizes </a:t>
            </a:r>
            <a:r>
              <a:rPr lang="en-US" sz="1000" b="1" dirty="0">
                <a:solidFill>
                  <a:srgbClr val="00B050"/>
                </a:solidFill>
              </a:rPr>
              <a:t>data protection, privacy, and guardrails</a:t>
            </a:r>
            <a:r>
              <a:rPr lang="en-US" sz="1000" dirty="0">
                <a:solidFill>
                  <a:srgbClr val="00B050"/>
                </a:solidFill>
              </a:rPr>
              <a:t> inside its HCM stack.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Good for agentic assistants focused on </a:t>
            </a:r>
            <a:r>
              <a:rPr lang="en-US" sz="1000" b="1" dirty="0">
                <a:solidFill>
                  <a:srgbClr val="00B050"/>
                </a:solidFill>
              </a:rPr>
              <a:t>HR operations</a:t>
            </a:r>
            <a:r>
              <a:rPr lang="en-US" sz="1000" dirty="0">
                <a:solidFill>
                  <a:srgbClr val="00B050"/>
                </a:solidFill>
              </a:rPr>
              <a:t>, employee self-service, and manager decision support.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45339E-7ED1-6188-EA61-7611BEA530DF}"/>
              </a:ext>
            </a:extLst>
          </p:cNvPr>
          <p:cNvSpPr txBox="1"/>
          <p:nvPr/>
        </p:nvSpPr>
        <p:spPr>
          <a:xfrm>
            <a:off x="6490033" y="2154601"/>
            <a:ext cx="51635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Cons / Risks</a:t>
            </a:r>
            <a:endParaRPr lang="en-US" sz="1000" dirty="0">
              <a:solidFill>
                <a:schemeClr val="accent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Best suited where you already have UiPath widely deployed; otherwise, integration/skill ramp needed.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Less focused on knowledge-centric workflows (e.g., deep knowledge search) vs workflow/RPA-centric use cases.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Complex estate of bots/agents can become hard to govern without strong </a:t>
            </a:r>
            <a:r>
              <a:rPr lang="en-US" sz="1000" dirty="0" err="1">
                <a:solidFill>
                  <a:schemeClr val="accent2"/>
                </a:solidFill>
              </a:rPr>
              <a:t>CoE</a:t>
            </a:r>
            <a:r>
              <a:rPr lang="en-US" sz="1000" dirty="0">
                <a:solidFill>
                  <a:schemeClr val="accent2"/>
                </a:solidFill>
              </a:rPr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16A9A0-F3A1-EE88-3DF2-461FDBE6D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434569"/>
              </p:ext>
            </p:extLst>
          </p:nvPr>
        </p:nvGraphicFramePr>
        <p:xfrm>
          <a:off x="630195" y="3687737"/>
          <a:ext cx="9564129" cy="27501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1032">
                  <a:extLst>
                    <a:ext uri="{9D8B030D-6E8A-4147-A177-3AD203B41FA5}">
                      <a16:colId xmlns:a16="http://schemas.microsoft.com/office/drawing/2014/main" val="2320688713"/>
                    </a:ext>
                  </a:extLst>
                </a:gridCol>
                <a:gridCol w="1365329">
                  <a:extLst>
                    <a:ext uri="{9D8B030D-6E8A-4147-A177-3AD203B41FA5}">
                      <a16:colId xmlns:a16="http://schemas.microsoft.com/office/drawing/2014/main" val="509775757"/>
                    </a:ext>
                  </a:extLst>
                </a:gridCol>
                <a:gridCol w="1760794">
                  <a:extLst>
                    <a:ext uri="{9D8B030D-6E8A-4147-A177-3AD203B41FA5}">
                      <a16:colId xmlns:a16="http://schemas.microsoft.com/office/drawing/2014/main" val="3027447076"/>
                    </a:ext>
                  </a:extLst>
                </a:gridCol>
                <a:gridCol w="4046974">
                  <a:extLst>
                    <a:ext uri="{9D8B030D-6E8A-4147-A177-3AD203B41FA5}">
                      <a16:colId xmlns:a16="http://schemas.microsoft.com/office/drawing/2014/main" val="275061366"/>
                    </a:ext>
                  </a:extLst>
                </a:gridCol>
              </a:tblGrid>
              <a:tr h="1912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Factor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Weight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Score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Comment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400718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Strategic Differentiation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HR excellence helps, but not core competitive edge vs other banks.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237912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Risk, Compliance &amp; Control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HCM data is sensitive; Oracle provides strong controls &amp; guardrails.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586305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&amp; Integration Fit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Great if Oracle HCM is your system of record; otherwise heavy lift.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29809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Talent &amp; Operating Model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Requires Oracle HCM functional + admin skillset; less generic.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537250"/>
                  </a:ext>
                </a:extLst>
              </a:tr>
              <a:tr h="3494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Economics &amp; Time-to-Value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Solid ROI for HR, but benefits are concentrated in one function.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81738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Reuse &amp; Platform Leverage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Mostly HR-specific; limited reuse for broader banking processes.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20795"/>
                  </a:ext>
                </a:extLst>
              </a:tr>
            </a:tbl>
          </a:graphicData>
        </a:graphic>
      </p:graphicFrame>
      <p:pic>
        <p:nvPicPr>
          <p:cNvPr id="4" name="Picture 2" descr="18,300+ Yes Icon Stock Illustrations ...">
            <a:extLst>
              <a:ext uri="{FF2B5EF4-FFF2-40B4-BE49-F238E27FC236}">
                <a16:creationId xmlns:a16="http://schemas.microsoft.com/office/drawing/2014/main" id="{0D3D18A6-E47E-237D-121C-8B3FB0353C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10581674" y="3954828"/>
            <a:ext cx="980131" cy="110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91FFD3-1779-B993-2CAA-1412A87979CB}"/>
              </a:ext>
            </a:extLst>
          </p:cNvPr>
          <p:cNvSpPr txBox="1"/>
          <p:nvPr/>
        </p:nvSpPr>
        <p:spPr>
          <a:xfrm>
            <a:off x="10554094" y="4878136"/>
            <a:ext cx="122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Score: 3.2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EF950-DAC9-2336-D159-9922FEC76FF6}"/>
              </a:ext>
            </a:extLst>
          </p:cNvPr>
          <p:cNvSpPr txBox="1"/>
          <p:nvPr/>
        </p:nvSpPr>
        <p:spPr>
          <a:xfrm>
            <a:off x="10194324" y="5247468"/>
            <a:ext cx="195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🤔 </a:t>
            </a:r>
            <a:r>
              <a:rPr lang="en-US" sz="1400" i="1" dirty="0"/>
              <a:t>Viable but marginal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1673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DB122-89CE-88AB-522F-A83FC7509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E0E5-F467-1CFB-8EB0-6E6A7E686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95" y="125249"/>
            <a:ext cx="1128106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ServiceNow (SNOW – Now Assist &amp; AI Agent)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76BD8-DD9A-CEEC-8065-E02BB713172D}"/>
              </a:ext>
            </a:extLst>
          </p:cNvPr>
          <p:cNvSpPr txBox="1"/>
          <p:nvPr/>
        </p:nvSpPr>
        <p:spPr>
          <a:xfrm>
            <a:off x="932446" y="1200494"/>
            <a:ext cx="109788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400" dirty="0"/>
              <a:t>Now Assist combines generative AI with ServiceNow’s workflow platform: </a:t>
            </a:r>
            <a:r>
              <a:rPr lang="en-US" sz="1400" dirty="0" err="1"/>
              <a:t>summarising</a:t>
            </a:r>
            <a:r>
              <a:rPr lang="en-US" sz="1400" dirty="0"/>
              <a:t> tickets, incidents, chats; recommending actions; generating catalog items and playbooks.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dirty="0"/>
              <a:t>ServiceNow now offers AI Agents and “Now Assist Skills” to deliver proactive, autonomous experiences across ITSM, HR, customer service and more.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FCBCD-2203-0A07-F0A5-59109F57E506}"/>
              </a:ext>
            </a:extLst>
          </p:cNvPr>
          <p:cNvSpPr txBox="1"/>
          <p:nvPr/>
        </p:nvSpPr>
        <p:spPr>
          <a:xfrm>
            <a:off x="932446" y="2154601"/>
            <a:ext cx="52999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rgbClr val="00B050"/>
                </a:solidFill>
              </a:rPr>
              <a:t>Pros</a:t>
            </a:r>
            <a:r>
              <a:rPr lang="en-US" sz="1000" b="1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Extremely strong where you use SNOW for ITSM, HRSM, CSM, risk &amp; compliance workflows.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AI acts inside existing workflows with full logging, RBAC, approvals, and audit trails.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00B050"/>
                </a:solidFill>
              </a:rPr>
              <a:t>Moveworks</a:t>
            </a:r>
            <a:r>
              <a:rPr lang="en-US" sz="1000" dirty="0">
                <a:solidFill>
                  <a:srgbClr val="00B050"/>
                </a:solidFill>
              </a:rPr>
              <a:t> acquisition bolsters conversational/assistant experience for employee support.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FB91B4-63C1-2DF4-086B-BD1502C24BC5}"/>
              </a:ext>
            </a:extLst>
          </p:cNvPr>
          <p:cNvSpPr txBox="1"/>
          <p:nvPr/>
        </p:nvSpPr>
        <p:spPr>
          <a:xfrm>
            <a:off x="6490033" y="2154601"/>
            <a:ext cx="516355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Cons / Risks</a:t>
            </a:r>
            <a:endParaRPr lang="en-US" sz="1000" dirty="0">
              <a:solidFill>
                <a:schemeClr val="accent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Like Salesforce, strongest </a:t>
            </a:r>
            <a:r>
              <a:rPr lang="en-US" sz="1000" b="1" dirty="0">
                <a:solidFill>
                  <a:schemeClr val="accent2"/>
                </a:solidFill>
              </a:rPr>
              <a:t>inside the SNOW estate</a:t>
            </a:r>
            <a:r>
              <a:rPr lang="en-US" sz="1000" dirty="0">
                <a:solidFill>
                  <a:schemeClr val="accent2"/>
                </a:solidFill>
              </a:rPr>
              <a:t>—not ideal as the only enterprise orchestrator.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Licensing for AI features can be steep; need good use-case selection.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Complex SNOW customization can create technical debt if not governed tightly.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76B499-30E7-1316-D448-50C834CF9CE5}"/>
              </a:ext>
            </a:extLst>
          </p:cNvPr>
          <p:cNvGraphicFramePr>
            <a:graphicFrameLocks noGrp="1"/>
          </p:cNvGraphicFramePr>
          <p:nvPr/>
        </p:nvGraphicFramePr>
        <p:xfrm>
          <a:off x="630195" y="3687737"/>
          <a:ext cx="9564129" cy="27501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1032">
                  <a:extLst>
                    <a:ext uri="{9D8B030D-6E8A-4147-A177-3AD203B41FA5}">
                      <a16:colId xmlns:a16="http://schemas.microsoft.com/office/drawing/2014/main" val="2320688713"/>
                    </a:ext>
                  </a:extLst>
                </a:gridCol>
                <a:gridCol w="1365329">
                  <a:extLst>
                    <a:ext uri="{9D8B030D-6E8A-4147-A177-3AD203B41FA5}">
                      <a16:colId xmlns:a16="http://schemas.microsoft.com/office/drawing/2014/main" val="509775757"/>
                    </a:ext>
                  </a:extLst>
                </a:gridCol>
                <a:gridCol w="1760794">
                  <a:extLst>
                    <a:ext uri="{9D8B030D-6E8A-4147-A177-3AD203B41FA5}">
                      <a16:colId xmlns:a16="http://schemas.microsoft.com/office/drawing/2014/main" val="3027447076"/>
                    </a:ext>
                  </a:extLst>
                </a:gridCol>
                <a:gridCol w="4046974">
                  <a:extLst>
                    <a:ext uri="{9D8B030D-6E8A-4147-A177-3AD203B41FA5}">
                      <a16:colId xmlns:a16="http://schemas.microsoft.com/office/drawing/2014/main" val="275061366"/>
                    </a:ext>
                  </a:extLst>
                </a:gridCol>
              </a:tblGrid>
              <a:tr h="1912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Factor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Weight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Score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Comment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400718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Strategic Differentiation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Big differentiator in 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 quality &amp; internal productivity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237912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Risk, Compliance &amp; Control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Very strong governance, logging, approvals in regulated industries.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586305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&amp; Integration Fit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Excellent for ITSM/HRSM/CSM; lots of connectors for bank systems.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29809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Talent &amp; Operating Model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Many banks already have SNOW admin &amp; platform teams.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537250"/>
                  </a:ext>
                </a:extLst>
              </a:tr>
              <a:tr h="3494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Economics &amp; Time-to-Value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Fast value for service flows; license uplift must be justified.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81738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Reuse &amp; Platform Leverage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Reused across IT, HR, risk, and customer support workflows.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20795"/>
                  </a:ext>
                </a:extLst>
              </a:tr>
            </a:tbl>
          </a:graphicData>
        </a:graphic>
      </p:graphicFrame>
      <p:pic>
        <p:nvPicPr>
          <p:cNvPr id="4" name="Picture 2" descr="18,300+ Yes Icon Stock Illustrations ...">
            <a:extLst>
              <a:ext uri="{FF2B5EF4-FFF2-40B4-BE49-F238E27FC236}">
                <a16:creationId xmlns:a16="http://schemas.microsoft.com/office/drawing/2014/main" id="{8FD177DC-CC21-CFA2-B277-8B5C32789F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10581674" y="3954828"/>
            <a:ext cx="980131" cy="110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EFE96B-BCDB-C0D4-1E74-278312EAB8AB}"/>
              </a:ext>
            </a:extLst>
          </p:cNvPr>
          <p:cNvSpPr txBox="1"/>
          <p:nvPr/>
        </p:nvSpPr>
        <p:spPr>
          <a:xfrm>
            <a:off x="10554094" y="4878136"/>
            <a:ext cx="1347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Score: 4.15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22E403-BA87-F1DB-C4A1-C6D20C63CB3F}"/>
              </a:ext>
            </a:extLst>
          </p:cNvPr>
          <p:cNvSpPr txBox="1"/>
          <p:nvPr/>
        </p:nvSpPr>
        <p:spPr>
          <a:xfrm>
            <a:off x="10581674" y="5247468"/>
            <a:ext cx="1411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 </a:t>
            </a:r>
            <a:r>
              <a:rPr lang="en-US" sz="1400" i="1" dirty="0"/>
              <a:t>Strong fit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7284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6150-36A1-0D48-BF90-D987FF2B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13F48-E1F5-DD6E-72E9-5D0CE899D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95" y="125249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Jira (Jira Software / Jira Service Management with Atlassian Intelligence)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8ECE5-5A95-5ECB-B0C2-62424D346955}"/>
              </a:ext>
            </a:extLst>
          </p:cNvPr>
          <p:cNvSpPr txBox="1"/>
          <p:nvPr/>
        </p:nvSpPr>
        <p:spPr>
          <a:xfrm>
            <a:off x="932446" y="1200494"/>
            <a:ext cx="1097881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400" b="1" dirty="0"/>
              <a:t>Atlassian Intelligence</a:t>
            </a:r>
            <a:r>
              <a:rPr lang="en-US" sz="1400" dirty="0"/>
              <a:t> in Jira adds AI for work item creation, summarization, ticket triage, and incident assistance.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dirty="0"/>
              <a:t>AI can scan Confluence pages to generate Jira tasks and pre-fill details, plus summaries issues, suggest next steps, and assist in Jira Service Management.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22DC4-D4F0-EBA3-BA4E-072C2050C89F}"/>
              </a:ext>
            </a:extLst>
          </p:cNvPr>
          <p:cNvSpPr txBox="1"/>
          <p:nvPr/>
        </p:nvSpPr>
        <p:spPr>
          <a:xfrm>
            <a:off x="932446" y="2154601"/>
            <a:ext cx="52999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rgbClr val="00B050"/>
                </a:solidFill>
              </a:rPr>
              <a:t>Pros</a:t>
            </a:r>
            <a:r>
              <a:rPr lang="en-US" sz="1000" b="1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Great for engineering and ITSM/DevOps flows in Jira: incident analysis, ticket routing, backlog grooming.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Good developer adoption; AI embedded directly where engineers work.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Cloud-native collaboration across Jira Software, Jira Service Management, and Confluence.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BB18E-658D-E255-02DE-C224B7808A1E}"/>
              </a:ext>
            </a:extLst>
          </p:cNvPr>
          <p:cNvSpPr txBox="1"/>
          <p:nvPr/>
        </p:nvSpPr>
        <p:spPr>
          <a:xfrm>
            <a:off x="6490033" y="2154601"/>
            <a:ext cx="516355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Cons / Risks</a:t>
            </a:r>
            <a:endParaRPr lang="en-US" sz="1000" dirty="0">
              <a:solidFill>
                <a:schemeClr val="accent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Less mature for regulated, cross-system enterprise orchestration vs UiPath/SNOW.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Many banks still on Data Center or behind strict data residency rules; some AI features are cloud-first.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Risk/compliance patterns not as “baked-in” for banking as SNOW/UiPath.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2C0024-7DD9-0082-5701-54F28CA33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265012"/>
              </p:ext>
            </p:extLst>
          </p:nvPr>
        </p:nvGraphicFramePr>
        <p:xfrm>
          <a:off x="630195" y="3687737"/>
          <a:ext cx="9564129" cy="27501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1032">
                  <a:extLst>
                    <a:ext uri="{9D8B030D-6E8A-4147-A177-3AD203B41FA5}">
                      <a16:colId xmlns:a16="http://schemas.microsoft.com/office/drawing/2014/main" val="2320688713"/>
                    </a:ext>
                  </a:extLst>
                </a:gridCol>
                <a:gridCol w="1365329">
                  <a:extLst>
                    <a:ext uri="{9D8B030D-6E8A-4147-A177-3AD203B41FA5}">
                      <a16:colId xmlns:a16="http://schemas.microsoft.com/office/drawing/2014/main" val="509775757"/>
                    </a:ext>
                  </a:extLst>
                </a:gridCol>
                <a:gridCol w="1760794">
                  <a:extLst>
                    <a:ext uri="{9D8B030D-6E8A-4147-A177-3AD203B41FA5}">
                      <a16:colId xmlns:a16="http://schemas.microsoft.com/office/drawing/2014/main" val="3027447076"/>
                    </a:ext>
                  </a:extLst>
                </a:gridCol>
                <a:gridCol w="4046974">
                  <a:extLst>
                    <a:ext uri="{9D8B030D-6E8A-4147-A177-3AD203B41FA5}">
                      <a16:colId xmlns:a16="http://schemas.microsoft.com/office/drawing/2014/main" val="275061366"/>
                    </a:ext>
                  </a:extLst>
                </a:gridCol>
              </a:tblGrid>
              <a:tr h="1912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Factor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Weight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Score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Comment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400718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Strategic Differentiation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Improves SDLC/DevOps efficiency but not bank-wide differentiator.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237912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Risk, Compliance &amp; Control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Improving; may fall short of strict data/sovereignty needs in some banks.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586305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&amp; Integration Fit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 within Atlassian stack; average for core bank systems.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29809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Talent &amp; Operating Model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Engineers already live in Jira; adoption is natural.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537250"/>
                  </a:ext>
                </a:extLst>
              </a:tr>
              <a:tr h="3494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Economics &amp; Time-to-Value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Fast incremental value; AI add-ons relatively easy to justify.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81738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Reuse &amp; Platform Leverage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Focused on SDLC / ITSM; moderate reuse beyond tech teams.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20795"/>
                  </a:ext>
                </a:extLst>
              </a:tr>
            </a:tbl>
          </a:graphicData>
        </a:graphic>
      </p:graphicFrame>
      <p:pic>
        <p:nvPicPr>
          <p:cNvPr id="4" name="Picture 2" descr="18,300+ Yes Icon Stock Illustrations ...">
            <a:extLst>
              <a:ext uri="{FF2B5EF4-FFF2-40B4-BE49-F238E27FC236}">
                <a16:creationId xmlns:a16="http://schemas.microsoft.com/office/drawing/2014/main" id="{FE9DAA25-3DB0-414F-8B4F-5C96B64B39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10581674" y="3954828"/>
            <a:ext cx="980131" cy="110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17AEA4-E52A-82B6-860A-AB2F9E817601}"/>
              </a:ext>
            </a:extLst>
          </p:cNvPr>
          <p:cNvSpPr txBox="1"/>
          <p:nvPr/>
        </p:nvSpPr>
        <p:spPr>
          <a:xfrm>
            <a:off x="10554094" y="4878136"/>
            <a:ext cx="1347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Score: 3.25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1F5873-5183-BA58-A8AE-366EC8BD761F}"/>
              </a:ext>
            </a:extLst>
          </p:cNvPr>
          <p:cNvSpPr txBox="1"/>
          <p:nvPr/>
        </p:nvSpPr>
        <p:spPr>
          <a:xfrm>
            <a:off x="10194324" y="5247468"/>
            <a:ext cx="195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🤔 </a:t>
            </a:r>
            <a:r>
              <a:rPr lang="en-US" sz="1400" i="1" dirty="0"/>
              <a:t>Viable but marginal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51722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AF354-BB9F-3371-0735-8864403C7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11C47-C7BB-CBC4-432E-C34B2A2FC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95" y="125249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Harness (Harness AI / AIDA)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600AC-B0EB-6907-D132-82144E0047BC}"/>
              </a:ext>
            </a:extLst>
          </p:cNvPr>
          <p:cNvSpPr txBox="1"/>
          <p:nvPr/>
        </p:nvSpPr>
        <p:spPr>
          <a:xfrm>
            <a:off x="932446" y="1200494"/>
            <a:ext cx="109788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400" dirty="0"/>
              <a:t>Harness AI (AIDA) uses a multi-agent approach across the SDLC to improve coding, build, deploy, security, reliability and cost optimization.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dirty="0"/>
              <a:t>Features include AI-driven CD error analysis, root-cause suggestions, and CI/CD troubleshooting that correlate failures with issues and suggest remediations.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5BD8D-F455-F342-66C9-F812D98795EE}"/>
              </a:ext>
            </a:extLst>
          </p:cNvPr>
          <p:cNvSpPr txBox="1"/>
          <p:nvPr/>
        </p:nvSpPr>
        <p:spPr>
          <a:xfrm>
            <a:off x="932446" y="2154601"/>
            <a:ext cx="52999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rgbClr val="00B050"/>
                </a:solidFill>
              </a:rPr>
              <a:t>Pros</a:t>
            </a:r>
            <a:r>
              <a:rPr lang="en-US" sz="1000" b="1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Strong for </a:t>
            </a:r>
            <a:r>
              <a:rPr lang="en-US" sz="1000" b="1" dirty="0">
                <a:solidFill>
                  <a:srgbClr val="00B050"/>
                </a:solidFill>
              </a:rPr>
              <a:t>DevOps and SRE</a:t>
            </a:r>
            <a:r>
              <a:rPr lang="en-US" sz="1000" dirty="0">
                <a:solidFill>
                  <a:srgbClr val="00B050"/>
                </a:solidFill>
              </a:rPr>
              <a:t> in a bank that uses Harness for CI/CD and feature delivery.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Multi-agent pattern is </a:t>
            </a:r>
            <a:r>
              <a:rPr lang="en-US" sz="1000" b="1" dirty="0">
                <a:solidFill>
                  <a:srgbClr val="00B050"/>
                </a:solidFill>
              </a:rPr>
              <a:t>very aligned with “agentic AI”</a:t>
            </a:r>
            <a:r>
              <a:rPr lang="en-US" sz="1000" dirty="0">
                <a:solidFill>
                  <a:srgbClr val="00B050"/>
                </a:solidFill>
              </a:rPr>
              <a:t> in SDLC context (different agents for build, deploy, cost, reliability).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Can notably reduce MTTR and increase deployment safety.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62FB13-4AD1-1CD9-2C95-21F85A89D54C}"/>
              </a:ext>
            </a:extLst>
          </p:cNvPr>
          <p:cNvSpPr txBox="1"/>
          <p:nvPr/>
        </p:nvSpPr>
        <p:spPr>
          <a:xfrm>
            <a:off x="6490033" y="2154601"/>
            <a:ext cx="516355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Cons / Risks</a:t>
            </a:r>
            <a:endParaRPr lang="en-US" sz="1000" dirty="0">
              <a:solidFill>
                <a:schemeClr val="accent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Very </a:t>
            </a:r>
            <a:r>
              <a:rPr lang="en-US" sz="1000" b="1" dirty="0">
                <a:solidFill>
                  <a:schemeClr val="accent2"/>
                </a:solidFill>
              </a:rPr>
              <a:t>narrowly focused on software delivery</a:t>
            </a:r>
            <a:r>
              <a:rPr lang="en-US" sz="1000" dirty="0">
                <a:solidFill>
                  <a:schemeClr val="accent2"/>
                </a:solidFill>
              </a:rPr>
              <a:t>, not business processes like KYC or loan ops.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Adoption cost if you’re not already a Harness shop.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Still evolving; banks need strong vendor due diligence for AI governance.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A6A160-3101-29E2-507F-9E4D719ED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042167"/>
              </p:ext>
            </p:extLst>
          </p:nvPr>
        </p:nvGraphicFramePr>
        <p:xfrm>
          <a:off x="630195" y="3687737"/>
          <a:ext cx="9564129" cy="2775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1032">
                  <a:extLst>
                    <a:ext uri="{9D8B030D-6E8A-4147-A177-3AD203B41FA5}">
                      <a16:colId xmlns:a16="http://schemas.microsoft.com/office/drawing/2014/main" val="2320688713"/>
                    </a:ext>
                  </a:extLst>
                </a:gridCol>
                <a:gridCol w="1365329">
                  <a:extLst>
                    <a:ext uri="{9D8B030D-6E8A-4147-A177-3AD203B41FA5}">
                      <a16:colId xmlns:a16="http://schemas.microsoft.com/office/drawing/2014/main" val="509775757"/>
                    </a:ext>
                  </a:extLst>
                </a:gridCol>
                <a:gridCol w="1760794">
                  <a:extLst>
                    <a:ext uri="{9D8B030D-6E8A-4147-A177-3AD203B41FA5}">
                      <a16:colId xmlns:a16="http://schemas.microsoft.com/office/drawing/2014/main" val="3027447076"/>
                    </a:ext>
                  </a:extLst>
                </a:gridCol>
                <a:gridCol w="4046974">
                  <a:extLst>
                    <a:ext uri="{9D8B030D-6E8A-4147-A177-3AD203B41FA5}">
                      <a16:colId xmlns:a16="http://schemas.microsoft.com/office/drawing/2014/main" val="275061366"/>
                    </a:ext>
                  </a:extLst>
                </a:gridCol>
              </a:tblGrid>
              <a:tr h="1912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Factor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Weight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Score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Comment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400718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Strategic Differentiation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Differentiates engineering productivity &amp; release velocity, less so core banking product.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237912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Risk, Compliance &amp; Control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Pipeline logs &amp; controls are good, but AI governance is emerging.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586305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&amp; Integration Fit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3–4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 if Harness is your CI/CD backbone; 2–3 otherwise.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29809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Talent &amp; Operating Model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Requires DevOps teams to adopt a new or extended tool.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537250"/>
                  </a:ext>
                </a:extLst>
              </a:tr>
              <a:tr h="3494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Economics &amp; Time-to-Value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3–4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Can be strong ROI in reduced failure/MTTR where SDLC pain is high.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81738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Reuse &amp; Platform Leverage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Mostly SDLC-only; limited reuse in non-tech functions.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20795"/>
                  </a:ext>
                </a:extLst>
              </a:tr>
            </a:tbl>
          </a:graphicData>
        </a:graphic>
      </p:graphicFrame>
      <p:pic>
        <p:nvPicPr>
          <p:cNvPr id="4" name="Picture 2" descr="18,300+ Yes Icon Stock Illustrations ...">
            <a:extLst>
              <a:ext uri="{FF2B5EF4-FFF2-40B4-BE49-F238E27FC236}">
                <a16:creationId xmlns:a16="http://schemas.microsoft.com/office/drawing/2014/main" id="{95F6E9B6-4EB6-EC7B-E7A8-C18CA84B6D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10581674" y="3954828"/>
            <a:ext cx="980131" cy="110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188BF6-8E24-875A-5144-DA64A1E43B35}"/>
              </a:ext>
            </a:extLst>
          </p:cNvPr>
          <p:cNvSpPr txBox="1"/>
          <p:nvPr/>
        </p:nvSpPr>
        <p:spPr>
          <a:xfrm>
            <a:off x="10554094" y="4878136"/>
            <a:ext cx="122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Score: 3.1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66BFA7-D793-6FA6-2E6D-EB12953F76B2}"/>
              </a:ext>
            </a:extLst>
          </p:cNvPr>
          <p:cNvSpPr txBox="1"/>
          <p:nvPr/>
        </p:nvSpPr>
        <p:spPr>
          <a:xfrm>
            <a:off x="10194324" y="5247468"/>
            <a:ext cx="195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🤔 </a:t>
            </a:r>
            <a:r>
              <a:rPr lang="en-US" sz="1400" i="1" dirty="0"/>
              <a:t>Viable but marginal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90065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62936-725C-2E07-7C92-6F28944C3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718D-2283-0D97-AE8A-154BFF33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95" y="125249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Atlassian (Platform &amp; Atlassian Intelligence / </a:t>
            </a:r>
            <a:r>
              <a:rPr lang="en-US" sz="3200" b="1" dirty="0" err="1">
                <a:solidFill>
                  <a:schemeClr val="accent3"/>
                </a:solidFill>
              </a:rPr>
              <a:t>Rovo</a:t>
            </a:r>
            <a:r>
              <a:rPr lang="en-US" sz="3200" b="1" dirty="0">
                <a:solidFill>
                  <a:schemeClr val="accent3"/>
                </a:solidFill>
              </a:rPr>
              <a:t> / Dia)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4A667-3B24-4EA3-D938-382012FC2D5F}"/>
              </a:ext>
            </a:extLst>
          </p:cNvPr>
          <p:cNvSpPr txBox="1"/>
          <p:nvPr/>
        </p:nvSpPr>
        <p:spPr>
          <a:xfrm>
            <a:off x="932446" y="1200494"/>
            <a:ext cx="1097881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400" dirty="0"/>
              <a:t>Atlassian Intelligence is AI across Confluence, Jira, etc., helping draft content, summaries docs, and generate tasks.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400" dirty="0"/>
              <a:t>Atlassian is rolling out </a:t>
            </a:r>
            <a:r>
              <a:rPr lang="en-US" sz="1400" dirty="0" err="1"/>
              <a:t>Rovo</a:t>
            </a:r>
            <a:r>
              <a:rPr lang="en-US" sz="1400" dirty="0"/>
              <a:t>, an AI teammate across the suite, and has acquired The Browser Company’s AI browser Dia to bring agents closer to users’ daily work across web apps.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4E123-5210-5C30-1C0D-1B9F9BFB111D}"/>
              </a:ext>
            </a:extLst>
          </p:cNvPr>
          <p:cNvSpPr txBox="1"/>
          <p:nvPr/>
        </p:nvSpPr>
        <p:spPr>
          <a:xfrm>
            <a:off x="932446" y="2154601"/>
            <a:ext cx="52999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rgbClr val="00B050"/>
                </a:solidFill>
              </a:rPr>
              <a:t>Pros</a:t>
            </a:r>
            <a:r>
              <a:rPr lang="en-US" sz="1000" b="1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Strong for </a:t>
            </a:r>
            <a:r>
              <a:rPr lang="en-US" sz="1000" b="1" dirty="0">
                <a:solidFill>
                  <a:srgbClr val="00B050"/>
                </a:solidFill>
              </a:rPr>
              <a:t>knowledge management + collaboration</a:t>
            </a:r>
            <a:r>
              <a:rPr lang="en-US" sz="1000" dirty="0">
                <a:solidFill>
                  <a:srgbClr val="00B050"/>
                </a:solidFill>
              </a:rPr>
              <a:t>: Confluence summaries, decision docs, runbooks, etc.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00B050"/>
                </a:solidFill>
              </a:rPr>
              <a:t>Rovo</a:t>
            </a:r>
            <a:r>
              <a:rPr lang="en-US" sz="1000" dirty="0">
                <a:solidFill>
                  <a:srgbClr val="00B050"/>
                </a:solidFill>
              </a:rPr>
              <a:t> + Dia direction points towards </a:t>
            </a:r>
            <a:r>
              <a:rPr lang="en-US" sz="1000" b="1" dirty="0">
                <a:solidFill>
                  <a:srgbClr val="00B050"/>
                </a:solidFill>
              </a:rPr>
              <a:t>cross-app AI assistant</a:t>
            </a:r>
            <a:r>
              <a:rPr lang="en-US" sz="1000" dirty="0">
                <a:solidFill>
                  <a:srgbClr val="00B050"/>
                </a:solidFill>
              </a:rPr>
              <a:t> that can act beyond Jira/Confluence.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B050"/>
                </a:solidFill>
              </a:rPr>
              <a:t>Deep adoption in engineer/PM/product orgs.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780E8E-B38F-1F06-661C-5C2529E0159C}"/>
              </a:ext>
            </a:extLst>
          </p:cNvPr>
          <p:cNvSpPr txBox="1"/>
          <p:nvPr/>
        </p:nvSpPr>
        <p:spPr>
          <a:xfrm>
            <a:off x="6490033" y="2154601"/>
            <a:ext cx="51635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Cons / Risks</a:t>
            </a:r>
            <a:endParaRPr lang="en-US" sz="1000" dirty="0">
              <a:solidFill>
                <a:schemeClr val="accent2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Many features are cloud-first; strict on-prem/data-center banks may not get full capability.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Governance, lineage, and FS-specific controls less mature than SNOW/UiPath.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accent2"/>
                </a:solidFill>
              </a:rPr>
              <a:t>Still more of an “AI teammate” than a robust, auditable agentic workflow engine for regulated ops.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3426BA-89DD-C8C7-64A6-652367491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467386"/>
              </p:ext>
            </p:extLst>
          </p:nvPr>
        </p:nvGraphicFramePr>
        <p:xfrm>
          <a:off x="630195" y="3687737"/>
          <a:ext cx="9564129" cy="27501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1032">
                  <a:extLst>
                    <a:ext uri="{9D8B030D-6E8A-4147-A177-3AD203B41FA5}">
                      <a16:colId xmlns:a16="http://schemas.microsoft.com/office/drawing/2014/main" val="2320688713"/>
                    </a:ext>
                  </a:extLst>
                </a:gridCol>
                <a:gridCol w="1365329">
                  <a:extLst>
                    <a:ext uri="{9D8B030D-6E8A-4147-A177-3AD203B41FA5}">
                      <a16:colId xmlns:a16="http://schemas.microsoft.com/office/drawing/2014/main" val="509775757"/>
                    </a:ext>
                  </a:extLst>
                </a:gridCol>
                <a:gridCol w="1760794">
                  <a:extLst>
                    <a:ext uri="{9D8B030D-6E8A-4147-A177-3AD203B41FA5}">
                      <a16:colId xmlns:a16="http://schemas.microsoft.com/office/drawing/2014/main" val="3027447076"/>
                    </a:ext>
                  </a:extLst>
                </a:gridCol>
                <a:gridCol w="4046974">
                  <a:extLst>
                    <a:ext uri="{9D8B030D-6E8A-4147-A177-3AD203B41FA5}">
                      <a16:colId xmlns:a16="http://schemas.microsoft.com/office/drawing/2014/main" val="275061366"/>
                    </a:ext>
                  </a:extLst>
                </a:gridCol>
              </a:tblGrid>
              <a:tr h="1912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Factor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Weight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Score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Comment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89" marR="4989" marT="498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400718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Strategic Differentiation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3–4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Can enable superior internal collaboration &amp; SDLC, but often not front-office differentiator.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237912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Risk, Compliance &amp; Control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Improving, but FS-grade controls and on-prem options may be limited.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586305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&amp; Integration Fit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 within Atlassian stack; moderate outside.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29809"/>
                  </a:ext>
                </a:extLst>
              </a:tr>
              <a:tr h="4649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Talent &amp; Operating Model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Huge user familiarity; low friction to adopt AI helpers.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537250"/>
                  </a:ext>
                </a:extLst>
              </a:tr>
              <a:tr h="3494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Economics &amp; Time-to-Value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Quick wins in documentation, knowledge, task generation.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81738"/>
                  </a:ext>
                </a:extLst>
              </a:tr>
              <a:tr h="4072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Reuse &amp; Platform Leverage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3–4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Can be reused across engineering, product, some ops teams.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20795"/>
                  </a:ext>
                </a:extLst>
              </a:tr>
            </a:tbl>
          </a:graphicData>
        </a:graphic>
      </p:graphicFrame>
      <p:pic>
        <p:nvPicPr>
          <p:cNvPr id="4" name="Picture 2" descr="18,300+ Yes Icon Stock Illustrations ...">
            <a:extLst>
              <a:ext uri="{FF2B5EF4-FFF2-40B4-BE49-F238E27FC236}">
                <a16:creationId xmlns:a16="http://schemas.microsoft.com/office/drawing/2014/main" id="{3FC23FCD-FE7D-193E-342B-CE1DEF9A41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10581674" y="3954828"/>
            <a:ext cx="980131" cy="1107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33FC9F-5B6E-8DE5-3189-4047C8CE997A}"/>
              </a:ext>
            </a:extLst>
          </p:cNvPr>
          <p:cNvSpPr txBox="1"/>
          <p:nvPr/>
        </p:nvSpPr>
        <p:spPr>
          <a:xfrm>
            <a:off x="10554094" y="4878136"/>
            <a:ext cx="122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Score: 3.4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52CC8-62E5-365A-85A4-C3B0FB50FDFA}"/>
              </a:ext>
            </a:extLst>
          </p:cNvPr>
          <p:cNvSpPr txBox="1"/>
          <p:nvPr/>
        </p:nvSpPr>
        <p:spPr>
          <a:xfrm>
            <a:off x="10194324" y="5247468"/>
            <a:ext cx="1959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🤔 </a:t>
            </a:r>
            <a:r>
              <a:rPr lang="en-US" sz="1400" i="1" dirty="0"/>
              <a:t>Viable but marginal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22321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2533</Words>
  <Application>Microsoft Macintosh PowerPoint</Application>
  <PresentationFormat>Widescreen</PresentationFormat>
  <Paragraphs>339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Aptos Narrow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Salesforce (Agentforce / Einstein 1)</vt:lpstr>
      <vt:lpstr>UiPath (Autopilot + Agent Builder)</vt:lpstr>
      <vt:lpstr>Oracle HCM (Oracle AI for HCM)</vt:lpstr>
      <vt:lpstr>ServiceNow (SNOW – Now Assist &amp; AI Agent)</vt:lpstr>
      <vt:lpstr>Jira (Jira Software / Jira Service Management with Atlassian Intelligence)</vt:lpstr>
      <vt:lpstr>Harness (Harness AI / AIDA)</vt:lpstr>
      <vt:lpstr>Atlassian (Platform &amp; Atlassian Intelligence / Rovo / Dia)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Navid Kalantari PhD (Data + AI)</dc:creator>
  <cp:lastModifiedBy>Dr Navid Kalantari PhD (Data + AI)</cp:lastModifiedBy>
  <cp:revision>3</cp:revision>
  <dcterms:created xsi:type="dcterms:W3CDTF">2025-11-13T00:42:40Z</dcterms:created>
  <dcterms:modified xsi:type="dcterms:W3CDTF">2025-11-13T01:37:27Z</dcterms:modified>
</cp:coreProperties>
</file>