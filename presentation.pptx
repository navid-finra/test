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88" r:id="rId5"/>
    <p:sldId id="260" r:id="rId6"/>
    <p:sldId id="278" r:id="rId7"/>
    <p:sldId id="289" r:id="rId8"/>
    <p:sldId id="261" r:id="rId9"/>
    <p:sldId id="283" r:id="rId10"/>
    <p:sldId id="284" r:id="rId11"/>
    <p:sldId id="287" r:id="rId12"/>
    <p:sldId id="282" r:id="rId13"/>
    <p:sldId id="262" r:id="rId14"/>
    <p:sldId id="277" r:id="rId15"/>
    <p:sldId id="263" r:id="rId16"/>
    <p:sldId id="274" r:id="rId17"/>
    <p:sldId id="264" r:id="rId18"/>
    <p:sldId id="265" r:id="rId19"/>
    <p:sldId id="266" r:id="rId20"/>
    <p:sldId id="26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820" y="1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25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3D66-3881-9037-6CF7-3FC4625A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52CB1-E5FF-B92B-E0B2-7DC497FDA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10AA7-2429-435E-19C8-6C4051CA1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C39E-A190-F24D-8DB7-9A65E6BE0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2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C9C3-9A8D-4783-1CC2-453EEF8A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D5CF4-6C6E-2BD6-0F3C-C1DDE6855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AF6B1-A843-170D-AE48-D9398EEB2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2BFA2-12BC-E3E5-8038-02F3F554A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2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A22F-E7AB-B88E-2368-75338364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B1543-3C34-7F2A-5CC8-C97D0B9AF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C7898-072B-E765-489F-D66D12A7E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9F5CE-81E6-1069-6CE5-11F5FA300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75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5F01-D302-64C1-29A5-C8577FD0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D260A-3AAE-D6BE-BDF4-A7A94B63A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8C6CB-E805-8236-15BD-B1E4F3FAA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6268-B1D7-D24F-27AF-4224280BB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43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DB7E-782D-4B33-5AE6-AC77B659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AAE0A-A914-21FC-1508-1B1BD7B7F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19D09-02D6-05AF-1416-45550951E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12784-0C24-7D9F-26D3-1373533C4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67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D646-ADEA-3530-5DEE-F536F0F6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5B306-657D-4957-B058-0CDB3C19A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2EFEE-E203-688F-A349-806FF23F9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5ECD-E8C6-4A48-0EEA-70443B949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8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E2E95-E197-230C-AAF9-63DA5A07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A1CDD-D395-A4A9-80E3-89D9B9041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261BB-72C8-DA16-CAE4-5BB4D7C89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0E45-C083-3F95-4AA0-0A98065F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5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4903-3E19-CC2C-B79E-853FAEC6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9F15B-7FCD-B23C-A14C-D1FD2A0A6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45A30-AC45-8049-682E-80934B428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7982-1F35-60DF-5B2B-75A2902FF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9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&#12304;17&#8224;L53-L57&#12305;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&#12304;16&#8224;L394-L402&#12305;" TargetMode="External"/><Relationship Id="rId5" Type="http://schemas.openxmlformats.org/officeDocument/2006/relationships/image" Target="../media/image4.png"/><Relationship Id="rId10" Type="http://schemas.openxmlformats.org/officeDocument/2006/relationships/hyperlink" Target="&#12304;25&#8224;L437-L444&#12305;" TargetMode="External"/><Relationship Id="rId4" Type="http://schemas.openxmlformats.org/officeDocument/2006/relationships/image" Target="../media/image3.png"/><Relationship Id="rId9" Type="http://schemas.openxmlformats.org/officeDocument/2006/relationships/hyperlink" Target="&#12304;22&#8224;L94-L102&#12305;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&#12304;6&#8224;L87-L95&#12305;" TargetMode="External"/><Relationship Id="rId3" Type="http://schemas.openxmlformats.org/officeDocument/2006/relationships/image" Target="../media/image7.png"/><Relationship Id="rId7" Type="http://schemas.openxmlformats.org/officeDocument/2006/relationships/hyperlink" Target="&#12304;6&#8224;L75-L83&#12305;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22&#8224;L94-L102&#12305;" TargetMode="External"/><Relationship Id="rId5" Type="http://schemas.openxmlformats.org/officeDocument/2006/relationships/hyperlink" Target="&#12304;22&#8224;L73-L81&#12305;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&#12304;23&#8224;L558-L566&#12305;" TargetMode="External"/><Relationship Id="rId3" Type="http://schemas.openxmlformats.org/officeDocument/2006/relationships/image" Target="../media/image11.png"/><Relationship Id="rId7" Type="http://schemas.openxmlformats.org/officeDocument/2006/relationships/hyperlink" Target="&#12304;22&#8224;L118-L126&#12305;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hyperlink" Target="&#12304;4&#8224;L205-L213&#12305;" TargetMode="External"/><Relationship Id="rId4" Type="http://schemas.openxmlformats.org/officeDocument/2006/relationships/image" Target="../media/image12.png"/><Relationship Id="rId9" Type="http://schemas.openxmlformats.org/officeDocument/2006/relationships/hyperlink" Target="&#12304;25&#8224;L469-L477&#12305;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12304;17&#8224;L124-L167&#12305;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&#12304;28&#8224;L369-L400&#12305;" TargetMode="External"/><Relationship Id="rId4" Type="http://schemas.openxmlformats.org/officeDocument/2006/relationships/hyperlink" Target="&#12304;28&#8224;L225-L245&#12305;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12304;22&#8224;L118-L126&#12305;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4&#8224;L205-L213&#12305;" TargetMode="External"/><Relationship Id="rId5" Type="http://schemas.openxmlformats.org/officeDocument/2006/relationships/hyperlink" Target="&#12304;25&#8224;L469-L477&#12305;" TargetMode="External"/><Relationship Id="rId4" Type="http://schemas.openxmlformats.org/officeDocument/2006/relationships/hyperlink" Target="&#12304;23&#8224;L558-L566&#12305;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&#12304;31&#8224;L579-L587&#12305;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26&#8224;L81-L89&#12305;" TargetMode="External"/><Relationship Id="rId5" Type="http://schemas.openxmlformats.org/officeDocument/2006/relationships/hyperlink" Target="&#12304;16&#8224;L415-L423&#12305;" TargetMode="External"/><Relationship Id="rId4" Type="http://schemas.openxmlformats.org/officeDocument/2006/relationships/hyperlink" Target="&#12304;21&#8224;L19-L27&#12305;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&#12304;31&#8224;L579-L587&#12305;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26&#8224;L81-L89&#12305;" TargetMode="External"/><Relationship Id="rId5" Type="http://schemas.openxmlformats.org/officeDocument/2006/relationships/hyperlink" Target="&#12304;16&#8224;L415-L423&#12305;" TargetMode="External"/><Relationship Id="rId4" Type="http://schemas.openxmlformats.org/officeDocument/2006/relationships/hyperlink" Target="&#12304;21&#8224;L19-L27&#12305;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&#12304;17&#8224;L124-L167&#12305;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hyperlink" Target="&#12304;28&#8224;L369-L400&#12305;" TargetMode="External"/><Relationship Id="rId10" Type="http://schemas.openxmlformats.org/officeDocument/2006/relationships/image" Target="../media/image25.png"/><Relationship Id="rId4" Type="http://schemas.openxmlformats.org/officeDocument/2006/relationships/hyperlink" Target="&#12304;28&#8224;L225-L245&#12305;" TargetMode="Externa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&#12304;17&#8224;L124-L167&#12305;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hyperlink" Target="&#12304;28&#8224;L369-L400&#12305;" TargetMode="External"/><Relationship Id="rId4" Type="http://schemas.openxmlformats.org/officeDocument/2006/relationships/hyperlink" Target="&#12304;28&#8224;L225-L245&#12305;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&#12304;6&#8224;L87-L95&#12305;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12" Type="http://schemas.openxmlformats.org/officeDocument/2006/relationships/hyperlink" Target="&#12304;6&#8224;L75-L83&#12305;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&#12304;16&#8224;L394-L402&#12305;" TargetMode="External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7.png"/><Relationship Id="rId14" Type="http://schemas.openxmlformats.org/officeDocument/2006/relationships/hyperlink" Target="&#12304;6&#8224;L169-L177&#12305;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&#12304;4&#8224;L199-L216&#12305;" TargetMode="External"/><Relationship Id="rId3" Type="http://schemas.openxmlformats.org/officeDocument/2006/relationships/image" Target="../media/image5.png"/><Relationship Id="rId7" Type="http://schemas.openxmlformats.org/officeDocument/2006/relationships/hyperlink" Target="&#12304;6&#8224;L176-L184&#12305;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6&#8224;L98-L107&#12305;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33.png"/><Relationship Id="rId9" Type="http://schemas.openxmlformats.org/officeDocument/2006/relationships/hyperlink" Target="&#12304;4&#8224;L241-L249&#12305;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&#12304;16&#8224;L397-L405&#12305;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4&#8224;L317-L323&#12305;" TargetMode="External"/><Relationship Id="rId5" Type="http://schemas.openxmlformats.org/officeDocument/2006/relationships/hyperlink" Target="&#12304;4&#8224;L308-L317&#12305;" TargetMode="External"/><Relationship Id="rId4" Type="http://schemas.openxmlformats.org/officeDocument/2006/relationships/hyperlink" Target="&#12304;10&#8224;L179-L187&#12305;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&#12304;17&#8224;L106-L113&#12305;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hyperlink" Target="&#12304;10&#8224;L179-L187&#12305;" TargetMode="External"/><Relationship Id="rId5" Type="http://schemas.openxmlformats.org/officeDocument/2006/relationships/image" Target="../media/image12.png"/><Relationship Id="rId10" Type="http://schemas.openxmlformats.org/officeDocument/2006/relationships/hyperlink" Target="&#12304;4&#8224;L330-L335&#12305;" TargetMode="External"/><Relationship Id="rId4" Type="http://schemas.openxmlformats.org/officeDocument/2006/relationships/image" Target="../media/image13.png"/><Relationship Id="rId9" Type="http://schemas.openxmlformats.org/officeDocument/2006/relationships/hyperlink" Target="&#12304;25&#8224;L469-L477&#12305;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&#12304;25&#8224;L437-L444&#12305;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10&#8224;L179-L187&#12305;" TargetMode="External"/><Relationship Id="rId4" Type="http://schemas.openxmlformats.org/officeDocument/2006/relationships/hyperlink" Target="&#12304;4&#8224;L319-L327&#12305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F6F9FC">
              <a:alpha val="60000"/>
            </a:srgbClr>
          </a:solidFill>
          <a:ln w="12700">
            <a:solidFill>
              <a:srgbClr val="F6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03864"/>
                </a:solidFill>
              </a:rPr>
              <a:t>AI &amp; Agentic Design Standards</a:t>
            </a:r>
            <a:endParaRPr lang="en-US" sz="36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7ACC"/>
                </a:solidFill>
              </a:rPr>
              <a:t>Leveraging AI in Enterprise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03864"/>
                </a:solidFill>
              </a:rPr>
              <a:t>Offsite POV: Frameworks, Patterns &amp; Practice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Executive Summary &amp; Agenda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Agentic Design Standards (12 factors)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373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Enterprise Controls &amp; Governance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860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Patterns &amp; Frameworks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AI in Architecture Practice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8328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Benefits, Risks &amp; Recommendations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Challenges &amp; Drivers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17" y="1375186"/>
            <a:ext cx="549836" cy="5498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05840"/>
            <a:ext cx="4246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From Copilots to Autonomous Agents
</a:t>
            </a:r>
            <a:r>
              <a:rPr lang="en-US" sz="1200" dirty="0">
                <a:solidFill>
                  <a:srgbClr val="333333"/>
                </a:solidFill>
              </a:rPr>
              <a:t>Modern AI applications demand more than reactive assistants; they require proactive agents that plan, act and collaborate to deliver multi‑step workflows.
</a:t>
            </a:r>
            <a:r>
              <a:rPr lang="en-US" sz="1600" b="1" dirty="0">
                <a:solidFill>
                  <a:srgbClr val="203864"/>
                </a:solidFill>
              </a:rPr>
              <a:t>Enterprise Architecture Pain Points
</a:t>
            </a:r>
            <a:r>
              <a:rPr lang="en-US" sz="1200" dirty="0">
                <a:solidFill>
                  <a:srgbClr val="333333"/>
                </a:solidFill>
              </a:rPr>
              <a:t>Architects struggle to keep standards current, produce blueprints quickly and triage designs at scale. Manual processes cannot cope with the volume and complexity of modern systems.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400800" y="1097280"/>
            <a:ext cx="2103120" cy="2103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BB97EF-A18E-4899-6167-4C94E274D60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232" b="856"/>
          <a:stretch>
            <a:fillRect/>
          </a:stretch>
        </p:blipFill>
        <p:spPr>
          <a:xfrm>
            <a:off x="5252720" y="248920"/>
            <a:ext cx="3704665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B9791-2507-BEA7-2D9F-02768BC9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81FC7B7B-8B12-AE7A-D83F-AAF532AF2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3" t="11655" r="4310" b="4593"/>
          <a:stretch>
            <a:fillRect/>
          </a:stretch>
        </p:blipFill>
        <p:spPr bwMode="auto">
          <a:xfrm>
            <a:off x="2865120" y="0"/>
            <a:ext cx="6009640" cy="512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253A9987-6057-91FE-8142-0070BDF2FD97}"/>
              </a:ext>
            </a:extLst>
          </p:cNvPr>
          <p:cNvSpPr/>
          <p:nvPr/>
        </p:nvSpPr>
        <p:spPr>
          <a:xfrm>
            <a:off x="335280" y="401320"/>
            <a:ext cx="3215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12 Factor Agents Principles for building reliable LLM applications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4034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High Level Enterprise Deployment Controls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3F9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Identity &amp; Access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Leverage enterprise identity (SSO, RBAC) so agents act within user permissions and actions are traceable.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6F9FC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54880" y="1280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Observability &amp; Logging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Capture every decision, action and context for audit and debugging. Use distributed tracing &amp; dashboards.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3F9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Safety &amp; Guardrails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Enforce rate limits, content filters, human‑in‑the‑loop checks and tool permissions to prevent abuse.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5720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6F9FC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54880" y="3108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Change Management &amp; Governance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548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Version prompts, test model changes, codify rules and follow AI DevOps pipelines for compliant rollouts.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1EF05-8A28-6687-FF1A-9EEE0FCD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A19243-8637-C389-EF30-3AC760411358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03864"/>
                </a:solidFill>
              </a:rPr>
              <a:t>Risks Management in LLMs and Agentic AI</a:t>
            </a:r>
            <a:endParaRPr lang="en-US" sz="22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F9E71EE-8A61-3C88-B793-FF1E117A1E0B}"/>
              </a:ext>
            </a:extLst>
          </p:cNvPr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7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E7895A9-FC6C-EA14-8812-6BAE015F6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83"/>
          <a:stretch>
            <a:fillRect/>
          </a:stretch>
        </p:blipFill>
        <p:spPr bwMode="auto">
          <a:xfrm>
            <a:off x="1041400" y="1264920"/>
            <a:ext cx="7448550" cy="338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12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6E0B5-CA6C-5D2B-C723-96FE8B93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E860AC-78AD-BC8A-D839-2D1435960C4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Guiding Principles </a:t>
            </a:r>
            <a:endParaRPr lang="en-US" sz="2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98321C9-EF90-404E-893D-C4A221979689}"/>
              </a:ext>
            </a:extLst>
          </p:cNvPr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A1CB7D8-E974-48C3-CCA2-4BDCEF569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00" b="4136"/>
          <a:stretch>
            <a:fillRect/>
          </a:stretch>
        </p:blipFill>
        <p:spPr bwMode="auto">
          <a:xfrm>
            <a:off x="4276408" y="1194440"/>
            <a:ext cx="3018472" cy="341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51A5F788-5F23-B379-5530-F80A4EE9A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 b="46000"/>
          <a:stretch>
            <a:fillRect/>
          </a:stretch>
        </p:blipFill>
        <p:spPr bwMode="auto">
          <a:xfrm>
            <a:off x="1627823" y="1181099"/>
            <a:ext cx="2730817" cy="339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10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E723B3-B2D5-2A01-7216-BA04B5312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5" b="3803"/>
          <a:stretch>
            <a:fillRect/>
          </a:stretch>
        </p:blipFill>
        <p:spPr bwMode="auto">
          <a:xfrm>
            <a:off x="4368800" y="132362"/>
            <a:ext cx="3426143" cy="501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CC5B773A-589B-0F9B-3FE8-54C12B8F231D}"/>
              </a:ext>
            </a:extLst>
          </p:cNvPr>
          <p:cNvSpPr/>
          <p:nvPr/>
        </p:nvSpPr>
        <p:spPr>
          <a:xfrm>
            <a:off x="335280" y="401320"/>
            <a:ext cx="3215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Minimum Control Baseline for 3</a:t>
            </a:r>
            <a:r>
              <a:rPr lang="en-US" sz="2200" b="1" baseline="30000" dirty="0">
                <a:solidFill>
                  <a:srgbClr val="203864"/>
                </a:solidFill>
              </a:rPr>
              <a:t>rd</a:t>
            </a:r>
            <a:r>
              <a:rPr lang="en-US" sz="2200" b="1" dirty="0">
                <a:solidFill>
                  <a:srgbClr val="203864"/>
                </a:solidFill>
              </a:rPr>
              <a:t> Party Agentic Solutions</a:t>
            </a:r>
            <a:endParaRPr lang="en-US" sz="2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736003-8A60-D0EE-3B6F-93F2A11D62D7}"/>
              </a:ext>
            </a:extLst>
          </p:cNvPr>
          <p:cNvSpPr txBox="1"/>
          <p:nvPr/>
        </p:nvSpPr>
        <p:spPr>
          <a:xfrm>
            <a:off x="4130040" y="33708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28939-3B8D-01C2-FC12-E1285B42E276}"/>
              </a:ext>
            </a:extLst>
          </p:cNvPr>
          <p:cNvSpPr txBox="1"/>
          <p:nvPr/>
        </p:nvSpPr>
        <p:spPr>
          <a:xfrm>
            <a:off x="7663543" y="90604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14C181-BC4A-C230-842D-F8BCD42E17EC}"/>
              </a:ext>
            </a:extLst>
          </p:cNvPr>
          <p:cNvSpPr txBox="1"/>
          <p:nvPr/>
        </p:nvSpPr>
        <p:spPr>
          <a:xfrm>
            <a:off x="7663543" y="215064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E87990-156A-8DE0-4AAC-DC217C16FC40}"/>
              </a:ext>
            </a:extLst>
          </p:cNvPr>
          <p:cNvSpPr txBox="1"/>
          <p:nvPr/>
        </p:nvSpPr>
        <p:spPr>
          <a:xfrm>
            <a:off x="7663543" y="330851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08EC3F-0CE8-03C2-DAFC-EC504CA845C0}"/>
              </a:ext>
            </a:extLst>
          </p:cNvPr>
          <p:cNvSpPr txBox="1"/>
          <p:nvPr/>
        </p:nvSpPr>
        <p:spPr>
          <a:xfrm>
            <a:off x="7663543" y="458904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BBCC4-E962-E301-D784-B4AD63E7DBBF}"/>
              </a:ext>
            </a:extLst>
          </p:cNvPr>
          <p:cNvSpPr txBox="1"/>
          <p:nvPr/>
        </p:nvSpPr>
        <p:spPr>
          <a:xfrm>
            <a:off x="4130040" y="153088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1336AA-3B34-6299-2560-4575F7D06255}"/>
              </a:ext>
            </a:extLst>
          </p:cNvPr>
          <p:cNvSpPr txBox="1"/>
          <p:nvPr/>
        </p:nvSpPr>
        <p:spPr>
          <a:xfrm>
            <a:off x="4130040" y="272468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0949F1-92ED-63A5-100E-F83240969733}"/>
              </a:ext>
            </a:extLst>
          </p:cNvPr>
          <p:cNvSpPr txBox="1"/>
          <p:nvPr/>
        </p:nvSpPr>
        <p:spPr>
          <a:xfrm>
            <a:off x="4130040" y="399468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IC-07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39A01-8526-E37B-6BD4-417FC9DD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B515126-6D57-BDB9-7674-27E006AF8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4"/>
          <a:stretch>
            <a:fillRect/>
          </a:stretch>
        </p:blipFill>
        <p:spPr bwMode="auto">
          <a:xfrm>
            <a:off x="1503680" y="1010919"/>
            <a:ext cx="6744018" cy="369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4EF49B3-DEA2-3EDB-8C8E-F11EA5DAE085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Risk Tiering and Gates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5305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8264E-6A98-3966-A0F7-61D2EF99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CB29FD7-7FF2-502F-7AFC-29357ACBA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2" t="22918" r="10197" b="10296"/>
          <a:stretch>
            <a:fillRect/>
          </a:stretch>
        </p:blipFill>
        <p:spPr bwMode="auto">
          <a:xfrm>
            <a:off x="2921000" y="721693"/>
            <a:ext cx="5217160" cy="37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FC0198-9C88-5421-3747-A6F0422C03F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Rubrics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8235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DB651-7BC3-64F4-D07F-09FC7B02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9733FC0-2F63-3138-EDC8-E94CCEFE9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3" y="0"/>
            <a:ext cx="57292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2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17223-148F-6692-8E51-1A7D2828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934D2F-7BBE-B287-A456-E5510CBA1F4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Design Patterns for Agents</a:t>
            </a:r>
            <a:endParaRPr lang="en-US" sz="2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A47E9B1-527D-4A27-A925-BD29E814C2B9}"/>
              </a:ext>
            </a:extLst>
          </p:cNvPr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2055A6E-F23E-0AEF-AC84-071F5A2D69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746"/>
          <a:stretch>
            <a:fillRect/>
          </a:stretch>
        </p:blipFill>
        <p:spPr>
          <a:xfrm>
            <a:off x="3956200" y="91439"/>
            <a:ext cx="4329280" cy="49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4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Frameworks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700" dirty="0"/>
          </a:p>
        </p:txBody>
      </p:sp>
      <p:pic>
        <p:nvPicPr>
          <p:cNvPr id="11266" name="Picture 2" descr="LangChain - Partner Ecosystem | MongoDB">
            <a:extLst>
              <a:ext uri="{FF2B5EF4-FFF2-40B4-BE49-F238E27FC236}">
                <a16:creationId xmlns:a16="http://schemas.microsoft.com/office/drawing/2014/main" id="{06700A38-AC23-85B2-489D-B18941422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63" r="66679" b="38681"/>
          <a:stretch>
            <a:fillRect/>
          </a:stretch>
        </p:blipFill>
        <p:spPr bwMode="auto">
          <a:xfrm>
            <a:off x="2484278" y="1464064"/>
            <a:ext cx="588961" cy="402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C51C0D-63F6-1302-D748-22BA63D4B6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7600" y="2816415"/>
            <a:ext cx="782319" cy="364490"/>
          </a:xfrm>
          <a:prstGeom prst="rect">
            <a:avLst/>
          </a:prstGeom>
        </p:spPr>
      </p:pic>
      <p:pic>
        <p:nvPicPr>
          <p:cNvPr id="11268" name="Picture 4" descr="AUTOGEN STUDIO: A No-Code Developer ...">
            <a:extLst>
              <a:ext uri="{FF2B5EF4-FFF2-40B4-BE49-F238E27FC236}">
                <a16:creationId xmlns:a16="http://schemas.microsoft.com/office/drawing/2014/main" id="{0FD6BA17-9923-9384-324C-AECC7ACBB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7" t="18242" r="23273" b="10550"/>
          <a:stretch>
            <a:fillRect/>
          </a:stretch>
        </p:blipFill>
        <p:spPr bwMode="auto">
          <a:xfrm>
            <a:off x="2530426" y="2037872"/>
            <a:ext cx="542813" cy="4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Index - Agent Development Kit">
            <a:extLst>
              <a:ext uri="{FF2B5EF4-FFF2-40B4-BE49-F238E27FC236}">
                <a16:creationId xmlns:a16="http://schemas.microsoft.com/office/drawing/2014/main" id="{0AC52C84-A154-285C-31E7-CEB3518E0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t="35186" r="75290" b="34711"/>
          <a:stretch>
            <a:fillRect/>
          </a:stretch>
        </p:blipFill>
        <p:spPr bwMode="auto">
          <a:xfrm>
            <a:off x="2489358" y="3383254"/>
            <a:ext cx="457200" cy="46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4221289D-1D90-3E15-8F93-6CF3C6182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0" b="8107"/>
          <a:stretch>
            <a:fillRect/>
          </a:stretch>
        </p:blipFill>
        <p:spPr bwMode="auto">
          <a:xfrm>
            <a:off x="3272133" y="835215"/>
            <a:ext cx="5414667" cy="397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74E80C-0A0B-B922-D958-EADFEE852B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2123" y="4131046"/>
            <a:ext cx="467361" cy="4673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E5F35-3E97-DD08-CCD0-2C9BC540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E9B511-4CCE-32F2-CDBF-416826E7D76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Components of the Agentic AI Systems</a:t>
            </a:r>
            <a:endParaRPr lang="en-US" sz="22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69E8633-BCB2-3311-DBB0-9EDFAC3C2152}"/>
              </a:ext>
            </a:extLst>
          </p:cNvPr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7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88E2A08-EA92-FC57-93D7-4785C7D2F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7" b="5580"/>
          <a:stretch>
            <a:fillRect/>
          </a:stretch>
        </p:blipFill>
        <p:spPr bwMode="auto">
          <a:xfrm>
            <a:off x="3299684" y="1016000"/>
            <a:ext cx="5095875" cy="410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929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AI in Architecture Practice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Standards Renewal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5179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Monitor releases &amp; usage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651760" y="161848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2834640" y="150876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15179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4680" y="15087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AI summarises impacts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480560" y="161848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4663440" y="150876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5179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3480" y="15087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Draft updated standards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6309360" y="161848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6492240" y="150876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5179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15087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Architect review &amp; approve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57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Blueprint Generation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1005840" y="269748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270662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Gather requirements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2651760" y="280720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7"/>
          <p:cNvSpPr/>
          <p:nvPr/>
        </p:nvSpPr>
        <p:spPr>
          <a:xfrm>
            <a:off x="2834640" y="269748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3784" y="27066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15468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AI drafts architecture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4480560" y="280720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0"/>
          <p:cNvSpPr/>
          <p:nvPr/>
        </p:nvSpPr>
        <p:spPr>
          <a:xfrm>
            <a:off x="4663440" y="269748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584" y="2706624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8348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Collaborative refinement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6309360" y="280720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3"/>
          <p:cNvSpPr/>
          <p:nvPr/>
        </p:nvSpPr>
        <p:spPr>
          <a:xfrm>
            <a:off x="6492240" y="269748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706624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1228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Implement &amp; document</a:t>
            </a:r>
            <a:endParaRPr lang="en-US" sz="800" dirty="0"/>
          </a:p>
        </p:txBody>
      </p:sp>
      <p:sp>
        <p:nvSpPr>
          <p:cNvPr id="35" name="Text 25"/>
          <p:cNvSpPr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Pre‑ARB Triage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1005840" y="388620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895344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325880" y="3886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Submit design</a:t>
            </a:r>
            <a:endParaRPr lang="en-US" sz="800" dirty="0"/>
          </a:p>
        </p:txBody>
      </p:sp>
      <p:sp>
        <p:nvSpPr>
          <p:cNvPr id="39" name="Shape 28"/>
          <p:cNvSpPr/>
          <p:nvPr/>
        </p:nvSpPr>
        <p:spPr>
          <a:xfrm>
            <a:off x="2651760" y="399592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9"/>
          <p:cNvSpPr/>
          <p:nvPr/>
        </p:nvSpPr>
        <p:spPr>
          <a:xfrm>
            <a:off x="2834640" y="388620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3895344"/>
            <a:ext cx="256032" cy="25603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154680" y="3886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AI checks vs standards</a:t>
            </a:r>
            <a:endParaRPr lang="en-US" sz="800" dirty="0"/>
          </a:p>
        </p:txBody>
      </p:sp>
      <p:sp>
        <p:nvSpPr>
          <p:cNvPr id="43" name="Shape 31"/>
          <p:cNvSpPr/>
          <p:nvPr/>
        </p:nvSpPr>
        <p:spPr>
          <a:xfrm>
            <a:off x="4480560" y="399592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32"/>
          <p:cNvSpPr/>
          <p:nvPr/>
        </p:nvSpPr>
        <p:spPr>
          <a:xfrm>
            <a:off x="4663440" y="388620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584" y="3895344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4983480" y="3886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Highlight risks &amp; fixes</a:t>
            </a:r>
            <a:endParaRPr lang="en-US" sz="800" dirty="0"/>
          </a:p>
        </p:txBody>
      </p:sp>
      <p:sp>
        <p:nvSpPr>
          <p:cNvPr id="47" name="Shape 34"/>
          <p:cNvSpPr/>
          <p:nvPr/>
        </p:nvSpPr>
        <p:spPr>
          <a:xfrm>
            <a:off x="6309360" y="3995928"/>
            <a:ext cx="182880" cy="64008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35"/>
          <p:cNvSpPr/>
          <p:nvPr/>
        </p:nvSpPr>
        <p:spPr>
          <a:xfrm>
            <a:off x="6492240" y="3886200"/>
            <a:ext cx="274320" cy="27432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1384" y="3895344"/>
            <a:ext cx="256032" cy="256032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812280" y="3886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ARB focuses on novel issues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5C85600-1880-A5B4-FD67-F40C733E4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38" y="0"/>
            <a:ext cx="52911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68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Architecture Governance &amp; Enforcement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Detect Drift &amp; Anti‑Patterns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Continuously compare code, configs &amp; telemetry to reference designs; flag unauthorized dependencies, layer violations and missing controls.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337560" y="10972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Validate Diagrams vs Reality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2900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Cross‑check diagrams with live deployments to highlight mismatches and missing failover components.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CodeOps &amp; Knowledge Repos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09360" y="1554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Codify standards as rules; embed AI checks in CI/CD; populate knowledge bases and design docs automatically.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Benefits &amp; Risks of AI in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B22B8BD-42CE-03DA-4E5B-F74E02B11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40" y="749230"/>
            <a:ext cx="3136583" cy="430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Recommendations &amp; 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43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Adopt an Agent Framework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444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Select a modular platform (e.g. LangChain, AutoGen, CrewAI) and pilot your first agent with clear scope.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783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Define Roles &amp; Guardrails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34440" y="2011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Specify agent responsibilities, tool permissions, and human approval points. Version your prompts.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4231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423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Instrument &amp; Monitor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23444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Implement logging, tracing &amp; dashboards. Capture context, actions and user identities for auditing.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0632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063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Pilot &amp; Iterate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23444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Run a 90‑day pilot on a high‑value workflow (e.g. blueprint generation) with continuous feedback and improvement.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7033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3703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Educate &amp; Align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234440" y="3931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Train architects &amp; engineers on AI capabilities and limitations. Foster a culture of collaboration between humans and agents.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864"/>
                </a:solidFill>
              </a:rPr>
              <a:t>Conclusion &amp; Call to 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Agents augment architects, not replace them.
</a:t>
            </a:r>
            <a:r>
              <a:rPr lang="en-US" sz="1000" dirty="0">
                <a:solidFill>
                  <a:srgbClr val="333333"/>
                </a:solidFill>
              </a:rPr>
              <a:t>By adopting agentic design standards, rigorous controls and a deliberate implementation strategy, organisations can harness AI to accelerate architecture delivery, enforce consistency and foster innovation.
</a:t>
            </a:r>
            <a:r>
              <a:rPr lang="en-US" sz="1000" i="1" dirty="0">
                <a:solidFill>
                  <a:srgbClr val="007ACC"/>
                </a:solidFill>
              </a:rPr>
              <a:t>Start small, measure impact, iterate and scale. Partner AI with human expertise to build systems that are robust, responsible and ready for the future.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007A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007A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772</Words>
  <Application>Microsoft Office PowerPoint</Application>
  <PresentationFormat>On-screen Show (16:9)</PresentationFormat>
  <Paragraphs>112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Kalantari, Navid</cp:lastModifiedBy>
  <cp:revision>2</cp:revision>
  <dcterms:created xsi:type="dcterms:W3CDTF">2025-11-10T19:31:43Z</dcterms:created>
  <dcterms:modified xsi:type="dcterms:W3CDTF">2025-11-11T17:39:00Z</dcterms:modified>
</cp:coreProperties>
</file>