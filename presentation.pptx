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hyperlink" Target="&#12304;17&#8224;L53-L57&#12305;" TargetMode="External"/><Relationship Id="rId7" Type="http://schemas.openxmlformats.org/officeDocument/2006/relationships/hyperlink" Target="&#12304;22&#8224;L94-L102&#12305;" TargetMode="External"/><Relationship Id="rId8" Type="http://schemas.openxmlformats.org/officeDocument/2006/relationships/hyperlink" Target="&#12304;25&#8224;L437-L444&#12305;" TargetMode="External"/><Relationship Id="rId9" Type="http://schemas.openxmlformats.org/officeDocument/2006/relationships/hyperlink" Target="&#12304;16&#8224;L394-L402&#12305;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hyperlink" Target="&#12304;22&#8224;L73-L81&#12305;" TargetMode="External"/><Relationship Id="rId4" Type="http://schemas.openxmlformats.org/officeDocument/2006/relationships/hyperlink" Target="&#12304;22&#8224;L94-L102&#12305;" TargetMode="External"/><Relationship Id="rId5" Type="http://schemas.openxmlformats.org/officeDocument/2006/relationships/hyperlink" Target="&#12304;6&#8224;L75-L83&#12305;" TargetMode="External"/><Relationship Id="rId6" Type="http://schemas.openxmlformats.org/officeDocument/2006/relationships/hyperlink" Target="&#12304;6&#8224;L87-L95&#12305;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hyperlink" Target="&#12304;17&#8224;L124-L132&#12305;" TargetMode="External"/><Relationship Id="rId2" Type="http://schemas.openxmlformats.org/officeDocument/2006/relationships/hyperlink" Target="&#12304;17&#8224;L149-L157&#12305;" TargetMode="External"/><Relationship Id="rId3" Type="http://schemas.openxmlformats.org/officeDocument/2006/relationships/hyperlink" Target="&#12304;22&#8224;L94-L102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hyperlink" Target="&#12304;22&#8224;L118-L126&#12305;" TargetMode="External"/><Relationship Id="rId6" Type="http://schemas.openxmlformats.org/officeDocument/2006/relationships/hyperlink" Target="&#12304;23&#8224;L558-L566&#12305;" TargetMode="External"/><Relationship Id="rId7" Type="http://schemas.openxmlformats.org/officeDocument/2006/relationships/hyperlink" Target="&#12304;25&#8224;L469-L477&#12305;" TargetMode="External"/><Relationship Id="rId8" Type="http://schemas.openxmlformats.org/officeDocument/2006/relationships/hyperlink" Target="&#12304;4&#8224;L205-L213&#12305;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hyperlink" Target="&#12304;31&#8224;L579-L587&#12305;" TargetMode="External"/><Relationship Id="rId6" Type="http://schemas.openxmlformats.org/officeDocument/2006/relationships/hyperlink" Target="&#12304;21&#8224;L19-L27&#12305;" TargetMode="External"/><Relationship Id="rId7" Type="http://schemas.openxmlformats.org/officeDocument/2006/relationships/hyperlink" Target="&#12304;16&#8224;L415-L423&#12305;" TargetMode="External"/><Relationship Id="rId8" Type="http://schemas.openxmlformats.org/officeDocument/2006/relationships/hyperlink" Target="&#12304;26&#8224;L81-L89&#12305;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hyperlink" Target="&#12304;17&#8224;L124-L167&#12305;" TargetMode="External"/><Relationship Id="rId5" Type="http://schemas.openxmlformats.org/officeDocument/2006/relationships/hyperlink" Target="&#12304;28&#8224;L225-L245&#12305;" TargetMode="External"/><Relationship Id="rId6" Type="http://schemas.openxmlformats.org/officeDocument/2006/relationships/hyperlink" Target="&#12304;28&#8224;L369-L400&#12305;" TargetMode="Externa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hyperlink" Target="&#12304;16&#8224;L394-L402&#12305;" TargetMode="External"/><Relationship Id="rId14" Type="http://schemas.openxmlformats.org/officeDocument/2006/relationships/hyperlink" Target="&#12304;6&#8224;L75-L83&#12305;" TargetMode="External"/><Relationship Id="rId15" Type="http://schemas.openxmlformats.org/officeDocument/2006/relationships/hyperlink" Target="&#12304;6&#8224;L87-L95&#12305;" TargetMode="External"/><Relationship Id="rId16" Type="http://schemas.openxmlformats.org/officeDocument/2006/relationships/hyperlink" Target="&#12304;6&#8224;L169-L177&#12305;" TargetMode="External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hyperlink" Target="&#12304;6&#8224;L98-L107&#12305;" TargetMode="External"/><Relationship Id="rId5" Type="http://schemas.openxmlformats.org/officeDocument/2006/relationships/hyperlink" Target="&#12304;6&#8224;L176-L184&#12305;" TargetMode="External"/><Relationship Id="rId6" Type="http://schemas.openxmlformats.org/officeDocument/2006/relationships/hyperlink" Target="&#12304;4&#8224;L199-L216&#12305;" TargetMode="External"/><Relationship Id="rId7" Type="http://schemas.openxmlformats.org/officeDocument/2006/relationships/hyperlink" Target="&#12304;4&#8224;L241-L249&#12305;" TargetMode="Externa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hyperlink" Target="&#12304;16&#8224;L397-L405&#12305;" TargetMode="External"/><Relationship Id="rId2" Type="http://schemas.openxmlformats.org/officeDocument/2006/relationships/hyperlink" Target="&#12304;10&#8224;L179-L187&#12305;" TargetMode="External"/><Relationship Id="rId3" Type="http://schemas.openxmlformats.org/officeDocument/2006/relationships/hyperlink" Target="&#12304;4&#8224;L308-L317&#12305;" TargetMode="External"/><Relationship Id="rId4" Type="http://schemas.openxmlformats.org/officeDocument/2006/relationships/hyperlink" Target="&#12304;4&#8224;L317-L323&#12305;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hyperlink" Target="&#12304;17&#8224;L106-L113&#12305;" TargetMode="External"/><Relationship Id="rId7" Type="http://schemas.openxmlformats.org/officeDocument/2006/relationships/hyperlink" Target="&#12304;25&#8224;L469-L477&#12305;" TargetMode="External"/><Relationship Id="rId8" Type="http://schemas.openxmlformats.org/officeDocument/2006/relationships/hyperlink" Target="&#12304;4&#8224;L330-L335&#12305;" TargetMode="External"/><Relationship Id="rId9" Type="http://schemas.openxmlformats.org/officeDocument/2006/relationships/hyperlink" Target="&#12304;10&#8224;L179-L187&#12305;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hyperlink" Target="&#12304;25&#8224;L437-L444&#12305;" TargetMode="External"/><Relationship Id="rId2" Type="http://schemas.openxmlformats.org/officeDocument/2006/relationships/hyperlink" Target="&#12304;4&#8224;L319-L327&#12305;" TargetMode="External"/><Relationship Id="rId3" Type="http://schemas.openxmlformats.org/officeDocument/2006/relationships/hyperlink" Target="&#12304;10&#8224;L179-L187&#12305;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00"/>
            <a:ext cx="9144000" cy="2857500"/>
          </a:xfrm>
          <a:prstGeom prst="rect">
            <a:avLst/>
          </a:prstGeom>
          <a:solidFill>
            <a:srgbClr val="F6F9FC">
              <a:alpha val="60000"/>
            </a:srgbClr>
          </a:solidFill>
          <a:ln w="12700">
            <a:solidFill>
              <a:srgbClr val="F6F9FC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03864"/>
                </a:solidFill>
              </a:rPr>
              <a:t>AI &amp; Agentic Design Standards</a:t>
            </a:r>
            <a:pPr algn="ctr" indent="0" marL="0">
              <a:buNone/>
            </a:pPr>
            <a:endParaRPr lang="en-US" sz="36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07ACC"/>
                </a:solidFill>
              </a:rPr>
              <a:t>Leveraging AI in Enterprise Architecture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03864"/>
                </a:solidFill>
              </a:rPr>
              <a:t>Offsite POV: Frameworks, Patterns &amp; Practice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03864"/>
                </a:solidFill>
              </a:rPr>
              <a:t>Executive Summary &amp; Agenda</a:t>
            </a:r>
            <a:endParaRPr lang="en-US" sz="2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1887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Agentic Design Standards (12 factors)</a:t>
            </a:r>
            <a:endParaRPr lang="en-US" sz="14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22960" y="17373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Enterprise Controls &amp; Governance</a:t>
            </a:r>
            <a:endParaRPr lang="en-US" sz="14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0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822960" y="22860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Patterns &amp; Frameworks</a:t>
            </a:r>
            <a:endParaRPr lang="en-US" sz="14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834640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822960" y="283464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AI in Architecture Practice</a:t>
            </a:r>
            <a:endParaRPr lang="en-US" sz="140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3383280"/>
            <a:ext cx="320040" cy="3200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822960" y="338328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</a:rPr>
              <a:t>Benefits, Risks &amp; Recommendations</a:t>
            </a:r>
            <a:endParaRPr lang="en-US" sz="1400" dirty="0"/>
          </a:p>
        </p:txBody>
      </p:sp>
      <p:sp>
        <p:nvSpPr>
          <p:cNvPr id="13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Challenges &amp; Drivers</a:t>
            </a:r>
            <a:endParaRPr lang="en-US" sz="2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05840"/>
            <a:ext cx="50292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3864"/>
                </a:solidFill>
              </a:rPr>
              <a:t>From Copilots to Autonomous Agents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Modern AI applications demand more than reactive assistants; they require proactive agents that plan, act and collaborate to deliver multi‑step workflows.
</a:t>
            </a:r>
            <a:pPr indent="0" marL="0">
              <a:buNone/>
            </a:pPr>
            <a:r>
              <a:rPr lang="en-US" sz="1600" b="1" dirty="0">
                <a:solidFill>
                  <a:srgbClr val="203864"/>
                </a:solidFill>
              </a:rPr>
              <a:t>Enterprise Architecture Pain Points
</a:t>
            </a:r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</a:rPr>
              <a:t>Architects struggle to keep standards current, produce blueprints quickly and triage designs at scale. Manual processes cannot cope with the volume and complexity of modern systems.</a:t>
            </a:r>
            <a:endParaRPr lang="en-US" sz="16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0" y="1097280"/>
            <a:ext cx="2103120" cy="21031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12‑Factor Agentic Design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219456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Natural language → tool calls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Own your prompts &amp; context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Structured outputs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Unify execution &amp; business state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Lifecycle APIs (launch/pause/resume)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Humans as tools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Explicit control flow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Compact errors into context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Small &amp; focused agents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Trigger from anywhere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Stateless reducers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864"/>
                          </a:solidFill>
                        </a:rPr>
                        <a:t>Own your context window</a:t>
                      </a:r>
                      <a:endParaRPr lang="en-US" sz="10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Enterprise Deployment Controls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801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Identity &amp; Access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Leverage enterprise identity (SSO, RBAC) so agents act within user permissions and actions are traceable.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572000" y="109728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6F9FC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2801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21208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Observability &amp; Logging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754880" y="16459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Capture every decision, action and context for audit and debugging. Use distributed tracing &amp; dashboards.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57200" y="292608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1089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08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Safety &amp; Guardrails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40080" y="34747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Enforce rate limits, content filters, human‑in‑the‑loop checks and tool permissions to prevent abuse.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572000" y="2926080"/>
            <a:ext cx="4023360" cy="1645920"/>
          </a:xfrm>
          <a:prstGeom prst="roundRect">
            <a:avLst>
              <a:gd name="adj" fmla="val 5556"/>
            </a:avLst>
          </a:prstGeom>
          <a:solidFill>
            <a:srgbClr val="F6F9FC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31089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12080" y="31089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Change Management &amp; Governance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4754880" y="34747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Version prompts, test model changes, codify rules and follow AI DevOps pipelines for compliant rollouts.</a:t>
            </a:r>
            <a:endParaRPr lang="en-US" sz="900" dirty="0"/>
          </a:p>
        </p:txBody>
      </p:sp>
      <p:sp>
        <p:nvSpPr>
          <p:cNvPr id="19" name="Text 1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Design Patterns for Agents</a:t>
            </a:r>
            <a:endParaRPr lang="en-US" sz="22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" y="109728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ReAct Loop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77240" y="13258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Interleave reasoning with tool calls; think, act, observe and iterate.</a:t>
            </a:r>
            <a:endParaRPr lang="en-US" sz="9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983480" y="109728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Self‑Reflection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4983480" y="132588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Agents critique their own outputs and retry when necessary.</a:t>
            </a:r>
            <a:endParaRPr lang="en-US" sz="9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77240" y="182880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Shared Memory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777240" y="20574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Multiple agents read/write to a common knowledge base or blackboard.</a:t>
            </a:r>
            <a:endParaRPr lang="en-US" sz="9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28800"/>
            <a:ext cx="274320" cy="27432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983480" y="1828800"/>
            <a:ext cx="3291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Orchestration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4983480" y="20574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Chain or parallelise agents; route tasks dynamically based on context.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731520" y="356616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16" name="Text 10"/>
          <p:cNvSpPr/>
          <p:nvPr/>
        </p:nvSpPr>
        <p:spPr>
          <a:xfrm>
            <a:off x="731520" y="35661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User Task</a:t>
            </a:r>
            <a:endParaRPr lang="en-US" sz="1000" dirty="0"/>
          </a:p>
        </p:txBody>
      </p:sp>
      <p:sp>
        <p:nvSpPr>
          <p:cNvPr id="17" name="Shape 11"/>
          <p:cNvSpPr/>
          <p:nvPr/>
        </p:nvSpPr>
        <p:spPr>
          <a:xfrm>
            <a:off x="2194560" y="3749040"/>
            <a:ext cx="182880" cy="91440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18" name="Shape 12"/>
          <p:cNvSpPr/>
          <p:nvPr/>
        </p:nvSpPr>
        <p:spPr>
          <a:xfrm>
            <a:off x="2377440" y="356616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19" name="Text 13"/>
          <p:cNvSpPr/>
          <p:nvPr/>
        </p:nvSpPr>
        <p:spPr>
          <a:xfrm>
            <a:off x="2377440" y="35661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Reason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3749040"/>
            <a:ext cx="182880" cy="91440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4023360" y="356616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22" name="Text 16"/>
          <p:cNvSpPr/>
          <p:nvPr/>
        </p:nvSpPr>
        <p:spPr>
          <a:xfrm>
            <a:off x="4023360" y="35661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Act (Tool)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5486400" y="3749040"/>
            <a:ext cx="182880" cy="91440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24" name="Shape 18"/>
          <p:cNvSpPr/>
          <p:nvPr/>
        </p:nvSpPr>
        <p:spPr>
          <a:xfrm>
            <a:off x="5669280" y="3566160"/>
            <a:ext cx="1463040" cy="457200"/>
          </a:xfrm>
          <a:prstGeom prst="roundRect">
            <a:avLst>
              <a:gd name="adj" fmla="val 20000"/>
            </a:avLst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25" name="Text 19"/>
          <p:cNvSpPr/>
          <p:nvPr/>
        </p:nvSpPr>
        <p:spPr>
          <a:xfrm>
            <a:off x="5669280" y="356616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Observe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303520" y="4206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03864"/>
                </a:solidFill>
              </a:rPr>
              <a:t>Iterate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Frameworks &amp; Orchestration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43200" cy="2103120"/>
          </a:xfrm>
          <a:prstGeom prst="roundRect">
            <a:avLst>
              <a:gd name="adj" fmla="val 4348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2801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LangChain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0116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Modular &amp; extensible; chains, agents, memory &amp; tools; model‑agnostic with rich ecosystem.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337560" y="1097280"/>
            <a:ext cx="2743200" cy="2103120"/>
          </a:xfrm>
          <a:prstGeom prst="roundRect">
            <a:avLst>
              <a:gd name="adj" fmla="val 4348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0" y="128016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52044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AutoGen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3520440" y="20116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Multi‑agent conversations; collaborative AI/AI &amp; AI/human workflows; built‑in approvals and tracing.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217920" y="1097280"/>
            <a:ext cx="2743200" cy="2103120"/>
          </a:xfrm>
          <a:prstGeom prst="roundRect">
            <a:avLst>
              <a:gd name="adj" fmla="val 4348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128016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0" y="1737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CrewAI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400800" y="2011680"/>
            <a:ext cx="2377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Role‑oriented crews; declarative YAML configs; orchestrates specialist agents like a human team.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AI in Architecture Practice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Standards Renewal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" y="150876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15179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25880" y="15087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Monitor releases &amp; usage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2651760" y="161848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834640" y="150876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784" y="151790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154680" y="15087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AI summarises impacts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4480560" y="161848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663440" y="150876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151790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83480" y="15087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Draft updated standards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6309360" y="161848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492240" y="150876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151790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150876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Architect review &amp; approve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457200" y="2377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Blueprint Generation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1005840" y="269748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2706624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Gather requirements</a:t>
            </a:r>
            <a:endParaRPr lang="en-US" sz="800" dirty="0"/>
          </a:p>
        </p:txBody>
      </p:sp>
      <p:sp>
        <p:nvSpPr>
          <p:cNvPr id="23" name="Shape 16"/>
          <p:cNvSpPr/>
          <p:nvPr/>
        </p:nvSpPr>
        <p:spPr>
          <a:xfrm>
            <a:off x="2651760" y="280720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2834640" y="269748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3784" y="2706624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15468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AI drafts architecture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80560" y="280720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28" name="Shape 20"/>
          <p:cNvSpPr/>
          <p:nvPr/>
        </p:nvSpPr>
        <p:spPr>
          <a:xfrm>
            <a:off x="4663440" y="269748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2584" y="2706624"/>
            <a:ext cx="256032" cy="25603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98348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Collaborative refinement</a:t>
            </a:r>
            <a:endParaRPr lang="en-US" sz="800" dirty="0"/>
          </a:p>
        </p:txBody>
      </p:sp>
      <p:sp>
        <p:nvSpPr>
          <p:cNvPr id="31" name="Shape 22"/>
          <p:cNvSpPr/>
          <p:nvPr/>
        </p:nvSpPr>
        <p:spPr>
          <a:xfrm>
            <a:off x="6309360" y="280720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32" name="Shape 23"/>
          <p:cNvSpPr/>
          <p:nvPr/>
        </p:nvSpPr>
        <p:spPr>
          <a:xfrm>
            <a:off x="6492240" y="269748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1384" y="2706624"/>
            <a:ext cx="256032" cy="256032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812280" y="269748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Implement &amp; document</a:t>
            </a:r>
            <a:endParaRPr lang="en-US" sz="800" dirty="0"/>
          </a:p>
        </p:txBody>
      </p:sp>
      <p:sp>
        <p:nvSpPr>
          <p:cNvPr id="35" name="Text 25"/>
          <p:cNvSpPr/>
          <p:nvPr/>
        </p:nvSpPr>
        <p:spPr>
          <a:xfrm>
            <a:off x="457200" y="35661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Pre‑ARB Triage</a:t>
            </a:r>
            <a:endParaRPr lang="en-US" sz="1400" dirty="0"/>
          </a:p>
        </p:txBody>
      </p:sp>
      <p:sp>
        <p:nvSpPr>
          <p:cNvPr id="36" name="Shape 26"/>
          <p:cNvSpPr/>
          <p:nvPr/>
        </p:nvSpPr>
        <p:spPr>
          <a:xfrm>
            <a:off x="1005840" y="388620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" y="3895344"/>
            <a:ext cx="256032" cy="256032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1325880" y="38862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Submit design</a:t>
            </a:r>
            <a:endParaRPr lang="en-US" sz="800" dirty="0"/>
          </a:p>
        </p:txBody>
      </p:sp>
      <p:sp>
        <p:nvSpPr>
          <p:cNvPr id="39" name="Shape 28"/>
          <p:cNvSpPr/>
          <p:nvPr/>
        </p:nvSpPr>
        <p:spPr>
          <a:xfrm>
            <a:off x="2651760" y="399592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40" name="Shape 29"/>
          <p:cNvSpPr/>
          <p:nvPr/>
        </p:nvSpPr>
        <p:spPr>
          <a:xfrm>
            <a:off x="2834640" y="388620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41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43784" y="3895344"/>
            <a:ext cx="256032" cy="256032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3154680" y="38862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AI checks vs standards</a:t>
            </a:r>
            <a:endParaRPr lang="en-US" sz="800" dirty="0"/>
          </a:p>
        </p:txBody>
      </p:sp>
      <p:sp>
        <p:nvSpPr>
          <p:cNvPr id="43" name="Shape 31"/>
          <p:cNvSpPr/>
          <p:nvPr/>
        </p:nvSpPr>
        <p:spPr>
          <a:xfrm>
            <a:off x="4480560" y="399592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44" name="Shape 32"/>
          <p:cNvSpPr/>
          <p:nvPr/>
        </p:nvSpPr>
        <p:spPr>
          <a:xfrm>
            <a:off x="4663440" y="388620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45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72584" y="3895344"/>
            <a:ext cx="256032" cy="256032"/>
          </a:xfrm>
          <a:prstGeom prst="rect">
            <a:avLst/>
          </a:prstGeom>
        </p:spPr>
      </p:pic>
      <p:sp>
        <p:nvSpPr>
          <p:cNvPr id="46" name="Text 33"/>
          <p:cNvSpPr/>
          <p:nvPr/>
        </p:nvSpPr>
        <p:spPr>
          <a:xfrm>
            <a:off x="4983480" y="38862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Highlight risks &amp; fixes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6309360" y="3995928"/>
            <a:ext cx="182880" cy="64008"/>
          </a:xfrm>
          <a:prstGeom prst="rightArrow">
            <a:avLst/>
          </a:prstGeom>
          <a:solidFill>
            <a:srgbClr val="203864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sp>
        <p:nvSpPr>
          <p:cNvPr id="48" name="Shape 35"/>
          <p:cNvSpPr/>
          <p:nvPr/>
        </p:nvSpPr>
        <p:spPr>
          <a:xfrm>
            <a:off x="6492240" y="3886200"/>
            <a:ext cx="274320" cy="27432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pic>
        <p:nvPicPr>
          <p:cNvPr id="4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01384" y="3895344"/>
            <a:ext cx="256032" cy="256032"/>
          </a:xfrm>
          <a:prstGeom prst="rect">
            <a:avLst/>
          </a:prstGeom>
        </p:spPr>
      </p:pic>
      <p:sp>
        <p:nvSpPr>
          <p:cNvPr id="50" name="Text 36"/>
          <p:cNvSpPr/>
          <p:nvPr/>
        </p:nvSpPr>
        <p:spPr>
          <a:xfrm>
            <a:off x="6812280" y="3886200"/>
            <a:ext cx="1417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ARB focuses on novel issues</a:t>
            </a:r>
            <a:endParaRPr lang="en-US" sz="800" dirty="0"/>
          </a:p>
        </p:txBody>
      </p:sp>
      <p:sp>
        <p:nvSpPr>
          <p:cNvPr id="51" name="Text 37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Architecture Governance &amp; Enforcement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234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Detect Drift &amp; Anti‑Patterns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155448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Continuously compare code, configs &amp; telemetry to reference designs; flag unauthorized dependencies, layer violations and missing controls.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37560" y="109728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234440"/>
            <a:ext cx="320040" cy="3200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794760" y="1234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Validate Diagrams vs Reality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429000" y="155448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Cross‑check diagrams with live deployments to highlight mismatches and missing failover components.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6217920" y="1097280"/>
            <a:ext cx="2743200" cy="1828800"/>
          </a:xfrm>
          <a:prstGeom prst="roundRect">
            <a:avLst>
              <a:gd name="adj" fmla="val 5000"/>
            </a:avLst>
          </a:prstGeom>
          <a:solidFill>
            <a:srgbClr val="EEF3F9"/>
          </a:solidFill>
          <a:ln w="12700">
            <a:solidFill>
              <a:srgbClr val="203864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23444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75120" y="12344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CodeOps &amp; Knowledge Repos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6309360" y="155448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Codify standards as rules; embed AI checks in CI/CD; populate knowledge bases and design docs automatically.</a:t>
            </a:r>
            <a:endParaRPr lang="en-US" sz="850" dirty="0"/>
          </a:p>
        </p:txBody>
      </p:sp>
      <p:sp>
        <p:nvSpPr>
          <p:cNvPr id="15" name="Text 10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Benefits &amp; Risks of AI in Architecture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Benefits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Risks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Accelerated blueprint &amp; standards updates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Hallucinations &amp; inaccuracies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Consistent adherence to best practices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False positives &amp; alert fatigue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Early detection of design flaws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Lack of context or business constraints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Scales architectural expertise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Over‑reliance &amp; skill erosion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Rich audit trails &amp; knowledge capture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Security &amp; privacy risks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Encourages innovation via suggested alternatives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Organisational resistance &amp; trust issues</a:t>
                      </a:r>
                      <a:endParaRPr lang="en-US" sz="8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386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9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Recommendations &amp; Next Steps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320040" cy="32004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11430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1430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14300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Adopt an Agent Framework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234440" y="13716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Select a modular platform (e.g. LangChain, AutoGen, CrewAI) and pilot your first agent with clear scope.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78308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178308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Define Roles &amp; Guardrails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234440" y="20116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Specify agent responsibilities, tool permissions, and human approval points. Version your prompts.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57200" y="2423160"/>
            <a:ext cx="320040" cy="32004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457200" y="24231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4231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234440" y="24231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Instrument &amp; Monitor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234440" y="26517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Implement logging, tracing &amp; dashboards. Capture context, actions and user identities for auditing.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457200" y="3063240"/>
            <a:ext cx="320040" cy="32004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457200" y="30632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0632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34440" y="306324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Pilot &amp; Iterate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234440" y="329184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Run a 90‑day pilot on a high‑value workflow (e.g. blueprint generation) with continuous feedback and improvement.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57200" y="3703320"/>
            <a:ext cx="320040" cy="320040"/>
          </a:xfrm>
          <a:prstGeom prst="ellipse">
            <a:avLst/>
          </a:prstGeom>
          <a:solidFill>
            <a:srgbClr val="007ACC"/>
          </a:solidFill>
          <a:ln w="12700">
            <a:solidFill>
              <a:srgbClr val="007ACC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/>
          <p:nvPr/>
        </p:nvSpPr>
        <p:spPr>
          <a:xfrm>
            <a:off x="457200" y="37033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370332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234440" y="370332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864"/>
                </a:solidFill>
              </a:rPr>
              <a:t>Educate &amp; Align</a:t>
            </a:r>
            <a:endParaRPr lang="en-US" sz="1200" dirty="0"/>
          </a:p>
        </p:txBody>
      </p:sp>
      <p:sp>
        <p:nvSpPr>
          <p:cNvPr id="27" name="Text 20"/>
          <p:cNvSpPr/>
          <p:nvPr/>
        </p:nvSpPr>
        <p:spPr>
          <a:xfrm>
            <a:off x="1234440" y="39319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</a:rPr>
              <a:t>Train architects &amp; engineers on AI capabilities and limitations. Foster a culture of collaboration between humans and agents.</a:t>
            </a:r>
            <a:endParaRPr lang="en-US" sz="850" dirty="0"/>
          </a:p>
        </p:txBody>
      </p:sp>
      <p:sp>
        <p:nvSpPr>
          <p:cNvPr id="28" name="Text 2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[4]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03864"/>
                </a:solidFill>
              </a:rPr>
              <a:t>Conclusion &amp; Call to Action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864"/>
                </a:solidFill>
              </a:rPr>
              <a:t>Agents augment architects, not replace them.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By adopting agentic design standards, rigorous controls and a deliberate implementation strategy, organisations can harness AI to accelerate architecture delivery, enforce consistency and foster innovation.
</a:t>
            </a:r>
            <a:pPr indent="0" marL="0">
              <a:buNone/>
            </a:pPr>
            <a:r>
              <a:rPr lang="en-US" sz="1000" i="1" dirty="0">
                <a:solidFill>
                  <a:srgbClr val="007ACC"/>
                </a:solidFill>
              </a:rPr>
              <a:t>Start small, measure impact, iterate and scale. Partner AI with human expertise to build systems that are robust, responsible and ready for the future.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  </a:t>
            </a:r>
            <a:pPr algn="l" indent="0" marL="0">
              <a:buNone/>
            </a:pPr>
            <a:r>
              <a:rPr lang="en-US" sz="700" u="sng" dirty="0">
                <a:solidFill>
                  <a:srgbClr val="007ACC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2025-11-10T19:31:43Z</dcterms:created>
  <dcterms:modified xsi:type="dcterms:W3CDTF">2025-11-10T19:31:43Z</dcterms:modified>
</cp:coreProperties>
</file>