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0CF12E-5123-4671-B72C-391FBCA061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CEFE336-95A4-4389-9A51-D72714D36656}">
      <dgm:prSet/>
      <dgm:spPr/>
      <dgm:t>
        <a:bodyPr/>
        <a:lstStyle/>
        <a:p>
          <a:r>
            <a:rPr lang="en-US" b="1"/>
            <a:t>Central piece – CFG AI Platform</a:t>
          </a:r>
          <a:endParaRPr lang="en-US"/>
        </a:p>
      </dgm:t>
    </dgm:pt>
    <dgm:pt modelId="{755400CD-E36D-4BBF-BB2B-C561A1D7C28C}" type="parTrans" cxnId="{A794C81A-97F8-401B-BEF8-259E2F5B8552}">
      <dgm:prSet/>
      <dgm:spPr/>
      <dgm:t>
        <a:bodyPr/>
        <a:lstStyle/>
        <a:p>
          <a:endParaRPr lang="en-US"/>
        </a:p>
      </dgm:t>
    </dgm:pt>
    <dgm:pt modelId="{0E69B4A0-215E-4D1C-8405-760DCDD5756E}" type="sibTrans" cxnId="{A794C81A-97F8-401B-BEF8-259E2F5B8552}">
      <dgm:prSet/>
      <dgm:spPr/>
      <dgm:t>
        <a:bodyPr/>
        <a:lstStyle/>
        <a:p>
          <a:endParaRPr lang="en-US"/>
        </a:p>
      </dgm:t>
    </dgm:pt>
    <dgm:pt modelId="{9BDF63C2-7FC3-4912-ABA5-1BD45B09B5B5}">
      <dgm:prSet/>
      <dgm:spPr/>
      <dgm:t>
        <a:bodyPr/>
        <a:lstStyle/>
        <a:p>
          <a:r>
            <a:rPr lang="en-US"/>
            <a:t>“Brain” and </a:t>
          </a:r>
          <a:r>
            <a:rPr lang="en-US" b="1"/>
            <a:t>control plane</a:t>
          </a:r>
          <a:r>
            <a:rPr lang="en-US"/>
            <a:t> for agentic AI.</a:t>
          </a:r>
        </a:p>
      </dgm:t>
    </dgm:pt>
    <dgm:pt modelId="{AA19EE5D-71CE-4659-A146-F9849CBED765}" type="parTrans" cxnId="{BFAA1725-3961-4C62-AFDD-EB74CB23D462}">
      <dgm:prSet/>
      <dgm:spPr/>
      <dgm:t>
        <a:bodyPr/>
        <a:lstStyle/>
        <a:p>
          <a:endParaRPr lang="en-US"/>
        </a:p>
      </dgm:t>
    </dgm:pt>
    <dgm:pt modelId="{083B15B0-F490-47D0-8ADA-0B5E27FC406F}" type="sibTrans" cxnId="{BFAA1725-3961-4C62-AFDD-EB74CB23D462}">
      <dgm:prSet/>
      <dgm:spPr/>
      <dgm:t>
        <a:bodyPr/>
        <a:lstStyle/>
        <a:p>
          <a:endParaRPr lang="en-US"/>
        </a:p>
      </dgm:t>
    </dgm:pt>
    <dgm:pt modelId="{0A771A92-3640-4998-B711-AA1CAF2F18B5}">
      <dgm:prSet/>
      <dgm:spPr/>
      <dgm:t>
        <a:bodyPr/>
        <a:lstStyle/>
        <a:p>
          <a:r>
            <a:rPr lang="en-US"/>
            <a:t>Hosts the most sensitive models; enforces red-teaming, monitoring, and audit.</a:t>
          </a:r>
        </a:p>
      </dgm:t>
    </dgm:pt>
    <dgm:pt modelId="{97112A26-DD8D-49EC-9CC6-EBB027D2ED72}" type="parTrans" cxnId="{CD736368-C646-41D2-9CB7-4366F1CFD289}">
      <dgm:prSet/>
      <dgm:spPr/>
      <dgm:t>
        <a:bodyPr/>
        <a:lstStyle/>
        <a:p>
          <a:endParaRPr lang="en-US"/>
        </a:p>
      </dgm:t>
    </dgm:pt>
    <dgm:pt modelId="{F6396264-8781-42EE-B631-E8558B381C0E}" type="sibTrans" cxnId="{CD736368-C646-41D2-9CB7-4366F1CFD289}">
      <dgm:prSet/>
      <dgm:spPr/>
      <dgm:t>
        <a:bodyPr/>
        <a:lstStyle/>
        <a:p>
          <a:endParaRPr lang="en-US"/>
        </a:p>
      </dgm:t>
    </dgm:pt>
    <dgm:pt modelId="{D90CABD8-301C-472E-88DB-30E51F4549EA}">
      <dgm:prSet/>
      <dgm:spPr/>
      <dgm:t>
        <a:bodyPr/>
        <a:lstStyle/>
        <a:p>
          <a:r>
            <a:rPr lang="en-US"/>
            <a:t>Orchestrates across:</a:t>
          </a:r>
        </a:p>
      </dgm:t>
    </dgm:pt>
    <dgm:pt modelId="{57B834AB-2895-4EF6-B4EF-2E9EA6086FE6}" type="parTrans" cxnId="{A7398902-036C-4BB4-AE91-8C4ED63DF18D}">
      <dgm:prSet/>
      <dgm:spPr/>
      <dgm:t>
        <a:bodyPr/>
        <a:lstStyle/>
        <a:p>
          <a:endParaRPr lang="en-US"/>
        </a:p>
      </dgm:t>
    </dgm:pt>
    <dgm:pt modelId="{94A92703-9C8D-4094-A8B6-A9E4C2D7352A}" type="sibTrans" cxnId="{A7398902-036C-4BB4-AE91-8C4ED63DF18D}">
      <dgm:prSet/>
      <dgm:spPr/>
      <dgm:t>
        <a:bodyPr/>
        <a:lstStyle/>
        <a:p>
          <a:endParaRPr lang="en-US"/>
        </a:p>
      </dgm:t>
    </dgm:pt>
    <dgm:pt modelId="{9D6E87E8-CC5F-4E7F-9FAA-841A6ADEA71B}">
      <dgm:prSet/>
      <dgm:spPr/>
      <dgm:t>
        <a:bodyPr/>
        <a:lstStyle/>
        <a:p>
          <a:r>
            <a:rPr lang="en-US"/>
            <a:t>Core banking &amp; risk systems,</a:t>
          </a:r>
        </a:p>
      </dgm:t>
    </dgm:pt>
    <dgm:pt modelId="{BF1F5338-BC58-41B0-92D5-A8FEC47DA1D3}" type="parTrans" cxnId="{8B752D63-16DD-465E-8CD7-69E3ED3BCE92}">
      <dgm:prSet/>
      <dgm:spPr/>
      <dgm:t>
        <a:bodyPr/>
        <a:lstStyle/>
        <a:p>
          <a:endParaRPr lang="en-US"/>
        </a:p>
      </dgm:t>
    </dgm:pt>
    <dgm:pt modelId="{8FE76BC5-09C7-43B2-A772-6F2E4ED867A1}" type="sibTrans" cxnId="{8B752D63-16DD-465E-8CD7-69E3ED3BCE92}">
      <dgm:prSet/>
      <dgm:spPr/>
      <dgm:t>
        <a:bodyPr/>
        <a:lstStyle/>
        <a:p>
          <a:endParaRPr lang="en-US"/>
        </a:p>
      </dgm:t>
    </dgm:pt>
    <dgm:pt modelId="{0156636B-330E-44FB-B0BE-7D4A16C1B562}">
      <dgm:prSet/>
      <dgm:spPr/>
      <dgm:t>
        <a:bodyPr/>
        <a:lstStyle/>
        <a:p>
          <a:r>
            <a:rPr lang="en-US" b="1"/>
            <a:t>UiPath</a:t>
          </a:r>
          <a:r>
            <a:rPr lang="en-US"/>
            <a:t> bots (for RPA/process tasks),</a:t>
          </a:r>
        </a:p>
      </dgm:t>
    </dgm:pt>
    <dgm:pt modelId="{255A2DCC-F40F-4FE1-8321-DE7320C66590}" type="parTrans" cxnId="{0DBFEB4D-A5F5-4A14-BAA3-ECFD3ACB532B}">
      <dgm:prSet/>
      <dgm:spPr/>
      <dgm:t>
        <a:bodyPr/>
        <a:lstStyle/>
        <a:p>
          <a:endParaRPr lang="en-US"/>
        </a:p>
      </dgm:t>
    </dgm:pt>
    <dgm:pt modelId="{9AE8C7F4-33E6-443B-B58B-A689DE491DB1}" type="sibTrans" cxnId="{0DBFEB4D-A5F5-4A14-BAA3-ECFD3ACB532B}">
      <dgm:prSet/>
      <dgm:spPr/>
      <dgm:t>
        <a:bodyPr/>
        <a:lstStyle/>
        <a:p>
          <a:endParaRPr lang="en-US"/>
        </a:p>
      </dgm:t>
    </dgm:pt>
    <dgm:pt modelId="{EDB5CD01-F201-4D00-A9FB-12D50C2D1240}">
      <dgm:prSet/>
      <dgm:spPr/>
      <dgm:t>
        <a:bodyPr/>
        <a:lstStyle/>
        <a:p>
          <a:r>
            <a:rPr lang="en-US" b="1"/>
            <a:t>Copilot Studio</a:t>
          </a:r>
          <a:r>
            <a:rPr lang="en-US"/>
            <a:t> agents (for M365-centric knowledge &amp; light actions).</a:t>
          </a:r>
        </a:p>
      </dgm:t>
    </dgm:pt>
    <dgm:pt modelId="{288245C5-4423-4B00-B27F-89FEDF8D5CD3}" type="parTrans" cxnId="{E8FB66E1-2FE9-45B4-A5BD-07A74C5BAEB4}">
      <dgm:prSet/>
      <dgm:spPr/>
      <dgm:t>
        <a:bodyPr/>
        <a:lstStyle/>
        <a:p>
          <a:endParaRPr lang="en-US"/>
        </a:p>
      </dgm:t>
    </dgm:pt>
    <dgm:pt modelId="{2E21FDD8-7E59-47DB-95BE-07216BEB888E}" type="sibTrans" cxnId="{E8FB66E1-2FE9-45B4-A5BD-07A74C5BAEB4}">
      <dgm:prSet/>
      <dgm:spPr/>
      <dgm:t>
        <a:bodyPr/>
        <a:lstStyle/>
        <a:p>
          <a:endParaRPr lang="en-US"/>
        </a:p>
      </dgm:t>
    </dgm:pt>
    <dgm:pt modelId="{EBB896C9-DFA5-4F2F-AA45-E09961FDC09F}">
      <dgm:prSet/>
      <dgm:spPr/>
      <dgm:t>
        <a:bodyPr/>
        <a:lstStyle/>
        <a:p>
          <a:r>
            <a:rPr lang="en-US" b="1"/>
            <a:t>Domain Platforms (Integrated, not competing)</a:t>
          </a:r>
          <a:endParaRPr lang="en-US"/>
        </a:p>
      </dgm:t>
    </dgm:pt>
    <dgm:pt modelId="{E22740B9-04E3-4817-BA5F-A8C9E566963C}" type="parTrans" cxnId="{BD20D499-F1F6-4B7C-9DCF-0E1DA26025F6}">
      <dgm:prSet/>
      <dgm:spPr/>
      <dgm:t>
        <a:bodyPr/>
        <a:lstStyle/>
        <a:p>
          <a:endParaRPr lang="en-US"/>
        </a:p>
      </dgm:t>
    </dgm:pt>
    <dgm:pt modelId="{B682B3CC-7BD4-4D6D-9F41-ECC8BFC92F62}" type="sibTrans" cxnId="{BD20D499-F1F6-4B7C-9DCF-0E1DA26025F6}">
      <dgm:prSet/>
      <dgm:spPr/>
      <dgm:t>
        <a:bodyPr/>
        <a:lstStyle/>
        <a:p>
          <a:endParaRPr lang="en-US"/>
        </a:p>
      </dgm:t>
    </dgm:pt>
    <dgm:pt modelId="{F05D54DE-09D5-4C66-A26B-1697E6C0DF62}">
      <dgm:prSet/>
      <dgm:spPr/>
      <dgm:t>
        <a:bodyPr/>
        <a:lstStyle/>
        <a:p>
          <a:r>
            <a:rPr lang="en-US" b="1"/>
            <a:t>UiPath</a:t>
          </a:r>
          <a:r>
            <a:rPr lang="en-US"/>
            <a:t> → </a:t>
          </a:r>
          <a:r>
            <a:rPr lang="en-US" i="1"/>
            <a:t>Execution engine for structured, high-volume processes</a:t>
          </a:r>
          <a:endParaRPr lang="en-US"/>
        </a:p>
      </dgm:t>
    </dgm:pt>
    <dgm:pt modelId="{73ED1CCC-3573-4C38-B7A5-4C5C37F167B4}" type="parTrans" cxnId="{8A9F028C-DF3F-4561-BD14-C32BB2C935C6}">
      <dgm:prSet/>
      <dgm:spPr/>
      <dgm:t>
        <a:bodyPr/>
        <a:lstStyle/>
        <a:p>
          <a:endParaRPr lang="en-US"/>
        </a:p>
      </dgm:t>
    </dgm:pt>
    <dgm:pt modelId="{89AA1319-7523-4183-B951-81A9D30A0CBD}" type="sibTrans" cxnId="{8A9F028C-DF3F-4561-BD14-C32BB2C935C6}">
      <dgm:prSet/>
      <dgm:spPr/>
      <dgm:t>
        <a:bodyPr/>
        <a:lstStyle/>
        <a:p>
          <a:endParaRPr lang="en-US"/>
        </a:p>
      </dgm:t>
    </dgm:pt>
    <dgm:pt modelId="{F9461D7D-9F08-45FA-87E3-C6090F1AFCEE}">
      <dgm:prSet/>
      <dgm:spPr/>
      <dgm:t>
        <a:bodyPr/>
        <a:lstStyle/>
        <a:p>
          <a:r>
            <a:rPr lang="en-US"/>
            <a:t>KYC document handling, account maintenance, reconciliations, report runs, etc.</a:t>
          </a:r>
        </a:p>
      </dgm:t>
    </dgm:pt>
    <dgm:pt modelId="{6FEAA767-8F8F-49CE-AC38-11070C8ACF0A}" type="parTrans" cxnId="{AF056B80-86C9-4434-879E-563D7D4C67B5}">
      <dgm:prSet/>
      <dgm:spPr/>
      <dgm:t>
        <a:bodyPr/>
        <a:lstStyle/>
        <a:p>
          <a:endParaRPr lang="en-US"/>
        </a:p>
      </dgm:t>
    </dgm:pt>
    <dgm:pt modelId="{FA200727-5574-4273-A775-12ABEF26DBEE}" type="sibTrans" cxnId="{AF056B80-86C9-4434-879E-563D7D4C67B5}">
      <dgm:prSet/>
      <dgm:spPr/>
      <dgm:t>
        <a:bodyPr/>
        <a:lstStyle/>
        <a:p>
          <a:endParaRPr lang="en-US"/>
        </a:p>
      </dgm:t>
    </dgm:pt>
    <dgm:pt modelId="{FBF2C9E2-BA1E-4E6E-AFD0-A642C46222E7}">
      <dgm:prSet/>
      <dgm:spPr/>
      <dgm:t>
        <a:bodyPr/>
        <a:lstStyle/>
        <a:p>
          <a:r>
            <a:rPr lang="en-US" b="1"/>
            <a:t>Copilot Studio</a:t>
          </a:r>
          <a:r>
            <a:rPr lang="en-US"/>
            <a:t> → </a:t>
          </a:r>
          <a:r>
            <a:rPr lang="en-US" i="1"/>
            <a:t>Interaction + knowledge layer in M365</a:t>
          </a:r>
          <a:endParaRPr lang="en-US"/>
        </a:p>
      </dgm:t>
    </dgm:pt>
    <dgm:pt modelId="{4376DE02-6476-4FF7-B33F-527E4963F1A3}" type="parTrans" cxnId="{6249EA41-43D4-4931-9015-37C46323A368}">
      <dgm:prSet/>
      <dgm:spPr/>
      <dgm:t>
        <a:bodyPr/>
        <a:lstStyle/>
        <a:p>
          <a:endParaRPr lang="en-US"/>
        </a:p>
      </dgm:t>
    </dgm:pt>
    <dgm:pt modelId="{12F223B3-246E-4773-8DDC-8F8AF0185A92}" type="sibTrans" cxnId="{6249EA41-43D4-4931-9015-37C46323A368}">
      <dgm:prSet/>
      <dgm:spPr/>
      <dgm:t>
        <a:bodyPr/>
        <a:lstStyle/>
        <a:p>
          <a:endParaRPr lang="en-US"/>
        </a:p>
      </dgm:t>
    </dgm:pt>
    <dgm:pt modelId="{E4732948-E696-4E64-8FED-901C134FCF0A}">
      <dgm:prSet/>
      <dgm:spPr/>
      <dgm:t>
        <a:bodyPr/>
        <a:lstStyle/>
        <a:p>
          <a:r>
            <a:rPr lang="en-US"/>
            <a:t>IT/HR self-service, policy Q&amp;A, “how do I” questions, guided front-office support.</a:t>
          </a:r>
        </a:p>
      </dgm:t>
    </dgm:pt>
    <dgm:pt modelId="{82DF8D91-DAFC-4631-917A-93919859FFCF}" type="parTrans" cxnId="{F697B9FC-9D40-4113-9176-83E0EDE2405E}">
      <dgm:prSet/>
      <dgm:spPr/>
      <dgm:t>
        <a:bodyPr/>
        <a:lstStyle/>
        <a:p>
          <a:endParaRPr lang="en-US"/>
        </a:p>
      </dgm:t>
    </dgm:pt>
    <dgm:pt modelId="{A57FA8C4-39E9-4501-B5FB-D4BC4416364B}" type="sibTrans" cxnId="{F697B9FC-9D40-4113-9176-83E0EDE2405E}">
      <dgm:prSet/>
      <dgm:spPr/>
      <dgm:t>
        <a:bodyPr/>
        <a:lstStyle/>
        <a:p>
          <a:endParaRPr lang="en-US"/>
        </a:p>
      </dgm:t>
    </dgm:pt>
    <dgm:pt modelId="{05A5883B-7646-417A-9C6C-07F33642481D}" type="pres">
      <dgm:prSet presAssocID="{010CF12E-5123-4671-B72C-391FBCA06157}" presName="linear" presStyleCnt="0">
        <dgm:presLayoutVars>
          <dgm:animLvl val="lvl"/>
          <dgm:resizeHandles val="exact"/>
        </dgm:presLayoutVars>
      </dgm:prSet>
      <dgm:spPr/>
    </dgm:pt>
    <dgm:pt modelId="{B9BA302C-99DA-41FC-8FAE-225D31082071}" type="pres">
      <dgm:prSet presAssocID="{ACEFE336-95A4-4389-9A51-D72714D3665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D3E8CD4-4E78-44D6-8755-E46F1D69FCCE}" type="pres">
      <dgm:prSet presAssocID="{ACEFE336-95A4-4389-9A51-D72714D36656}" presName="childText" presStyleLbl="revTx" presStyleIdx="0" presStyleCnt="2">
        <dgm:presLayoutVars>
          <dgm:bulletEnabled val="1"/>
        </dgm:presLayoutVars>
      </dgm:prSet>
      <dgm:spPr/>
    </dgm:pt>
    <dgm:pt modelId="{7C67C434-0470-4AA7-A3B2-A2BABF2C5F82}" type="pres">
      <dgm:prSet presAssocID="{EBB896C9-DFA5-4F2F-AA45-E09961FDC09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4F70641-616A-4247-B7B6-B6B57EAE27D6}" type="pres">
      <dgm:prSet presAssocID="{EBB896C9-DFA5-4F2F-AA45-E09961FDC09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7398902-036C-4BB4-AE91-8C4ED63DF18D}" srcId="{ACEFE336-95A4-4389-9A51-D72714D36656}" destId="{D90CABD8-301C-472E-88DB-30E51F4549EA}" srcOrd="2" destOrd="0" parTransId="{57B834AB-2895-4EF6-B4EF-2E9EA6086FE6}" sibTransId="{94A92703-9C8D-4094-A8B6-A9E4C2D7352A}"/>
    <dgm:cxn modelId="{A794C81A-97F8-401B-BEF8-259E2F5B8552}" srcId="{010CF12E-5123-4671-B72C-391FBCA06157}" destId="{ACEFE336-95A4-4389-9A51-D72714D36656}" srcOrd="0" destOrd="0" parTransId="{755400CD-E36D-4BBF-BB2B-C561A1D7C28C}" sibTransId="{0E69B4A0-215E-4D1C-8405-760DCDD5756E}"/>
    <dgm:cxn modelId="{BFAA1725-3961-4C62-AFDD-EB74CB23D462}" srcId="{ACEFE336-95A4-4389-9A51-D72714D36656}" destId="{9BDF63C2-7FC3-4912-ABA5-1BD45B09B5B5}" srcOrd="0" destOrd="0" parTransId="{AA19EE5D-71CE-4659-A146-F9849CBED765}" sibTransId="{083B15B0-F490-47D0-8ADA-0B5E27FC406F}"/>
    <dgm:cxn modelId="{6249EA41-43D4-4931-9015-37C46323A368}" srcId="{EBB896C9-DFA5-4F2F-AA45-E09961FDC09F}" destId="{FBF2C9E2-BA1E-4E6E-AFD0-A642C46222E7}" srcOrd="1" destOrd="0" parTransId="{4376DE02-6476-4FF7-B33F-527E4963F1A3}" sibTransId="{12F223B3-246E-4773-8DDC-8F8AF0185A92}"/>
    <dgm:cxn modelId="{8B752D63-16DD-465E-8CD7-69E3ED3BCE92}" srcId="{D90CABD8-301C-472E-88DB-30E51F4549EA}" destId="{9D6E87E8-CC5F-4E7F-9FAA-841A6ADEA71B}" srcOrd="0" destOrd="0" parTransId="{BF1F5338-BC58-41B0-92D5-A8FEC47DA1D3}" sibTransId="{8FE76BC5-09C7-43B2-A772-6F2E4ED867A1}"/>
    <dgm:cxn modelId="{5A930E45-4355-4502-950C-0991256645B1}" type="presOf" srcId="{0A771A92-3640-4998-B711-AA1CAF2F18B5}" destId="{7D3E8CD4-4E78-44D6-8755-E46F1D69FCCE}" srcOrd="0" destOrd="1" presId="urn:microsoft.com/office/officeart/2005/8/layout/vList2"/>
    <dgm:cxn modelId="{CD736368-C646-41D2-9CB7-4366F1CFD289}" srcId="{ACEFE336-95A4-4389-9A51-D72714D36656}" destId="{0A771A92-3640-4998-B711-AA1CAF2F18B5}" srcOrd="1" destOrd="0" parTransId="{97112A26-DD8D-49EC-9CC6-EBB027D2ED72}" sibTransId="{F6396264-8781-42EE-B631-E8558B381C0E}"/>
    <dgm:cxn modelId="{0B811E69-33CC-46DC-AC14-3DC7C8FE86AF}" type="presOf" srcId="{FBF2C9E2-BA1E-4E6E-AFD0-A642C46222E7}" destId="{C4F70641-616A-4247-B7B6-B6B57EAE27D6}" srcOrd="0" destOrd="2" presId="urn:microsoft.com/office/officeart/2005/8/layout/vList2"/>
    <dgm:cxn modelId="{0DBFEB4D-A5F5-4A14-BAA3-ECFD3ACB532B}" srcId="{D90CABD8-301C-472E-88DB-30E51F4549EA}" destId="{0156636B-330E-44FB-B0BE-7D4A16C1B562}" srcOrd="1" destOrd="0" parTransId="{255A2DCC-F40F-4FE1-8321-DE7320C66590}" sibTransId="{9AE8C7F4-33E6-443B-B58B-A689DE491DB1}"/>
    <dgm:cxn modelId="{1EAF0471-7575-450D-984A-EDC45E5FF93A}" type="presOf" srcId="{F05D54DE-09D5-4C66-A26B-1697E6C0DF62}" destId="{C4F70641-616A-4247-B7B6-B6B57EAE27D6}" srcOrd="0" destOrd="0" presId="urn:microsoft.com/office/officeart/2005/8/layout/vList2"/>
    <dgm:cxn modelId="{11AFD951-0CA0-4A1C-A6B0-2550F9BB1BD1}" type="presOf" srcId="{9D6E87E8-CC5F-4E7F-9FAA-841A6ADEA71B}" destId="{7D3E8CD4-4E78-44D6-8755-E46F1D69FCCE}" srcOrd="0" destOrd="3" presId="urn:microsoft.com/office/officeart/2005/8/layout/vList2"/>
    <dgm:cxn modelId="{AF056B80-86C9-4434-879E-563D7D4C67B5}" srcId="{F05D54DE-09D5-4C66-A26B-1697E6C0DF62}" destId="{F9461D7D-9F08-45FA-87E3-C6090F1AFCEE}" srcOrd="0" destOrd="0" parTransId="{6FEAA767-8F8F-49CE-AC38-11070C8ACF0A}" sibTransId="{FA200727-5574-4273-A775-12ABEF26DBEE}"/>
    <dgm:cxn modelId="{8A9F028C-DF3F-4561-BD14-C32BB2C935C6}" srcId="{EBB896C9-DFA5-4F2F-AA45-E09961FDC09F}" destId="{F05D54DE-09D5-4C66-A26B-1697E6C0DF62}" srcOrd="0" destOrd="0" parTransId="{73ED1CCC-3573-4C38-B7A5-4C5C37F167B4}" sibTransId="{89AA1319-7523-4183-B951-81A9D30A0CBD}"/>
    <dgm:cxn modelId="{CB724D98-3865-4C8E-9E9A-41BEBA577F62}" type="presOf" srcId="{ACEFE336-95A4-4389-9A51-D72714D36656}" destId="{B9BA302C-99DA-41FC-8FAE-225D31082071}" srcOrd="0" destOrd="0" presId="urn:microsoft.com/office/officeart/2005/8/layout/vList2"/>
    <dgm:cxn modelId="{BD20D499-F1F6-4B7C-9DCF-0E1DA26025F6}" srcId="{010CF12E-5123-4671-B72C-391FBCA06157}" destId="{EBB896C9-DFA5-4F2F-AA45-E09961FDC09F}" srcOrd="1" destOrd="0" parTransId="{E22740B9-04E3-4817-BA5F-A8C9E566963C}" sibTransId="{B682B3CC-7BD4-4D6D-9F41-ECC8BFC92F62}"/>
    <dgm:cxn modelId="{FB06BDA1-089E-41F9-8D62-D2DC14EEF8C5}" type="presOf" srcId="{EBB896C9-DFA5-4F2F-AA45-E09961FDC09F}" destId="{7C67C434-0470-4AA7-A3B2-A2BABF2C5F82}" srcOrd="0" destOrd="0" presId="urn:microsoft.com/office/officeart/2005/8/layout/vList2"/>
    <dgm:cxn modelId="{2EA8F1A2-692B-4602-B869-C8E968BFFDF2}" type="presOf" srcId="{F9461D7D-9F08-45FA-87E3-C6090F1AFCEE}" destId="{C4F70641-616A-4247-B7B6-B6B57EAE27D6}" srcOrd="0" destOrd="1" presId="urn:microsoft.com/office/officeart/2005/8/layout/vList2"/>
    <dgm:cxn modelId="{8A83FBA5-BEF2-49E3-8728-9037165C506B}" type="presOf" srcId="{E4732948-E696-4E64-8FED-901C134FCF0A}" destId="{C4F70641-616A-4247-B7B6-B6B57EAE27D6}" srcOrd="0" destOrd="3" presId="urn:microsoft.com/office/officeart/2005/8/layout/vList2"/>
    <dgm:cxn modelId="{A201F4AB-F11B-449D-BED7-4F6BB6BF1901}" type="presOf" srcId="{010CF12E-5123-4671-B72C-391FBCA06157}" destId="{05A5883B-7646-417A-9C6C-07F33642481D}" srcOrd="0" destOrd="0" presId="urn:microsoft.com/office/officeart/2005/8/layout/vList2"/>
    <dgm:cxn modelId="{EB9BD6B1-5BBD-47BB-835E-8ECCC6736B21}" type="presOf" srcId="{EDB5CD01-F201-4D00-A9FB-12D50C2D1240}" destId="{7D3E8CD4-4E78-44D6-8755-E46F1D69FCCE}" srcOrd="0" destOrd="5" presId="urn:microsoft.com/office/officeart/2005/8/layout/vList2"/>
    <dgm:cxn modelId="{C03D26B2-3177-43DD-9335-ACC57AD3363F}" type="presOf" srcId="{D90CABD8-301C-472E-88DB-30E51F4549EA}" destId="{7D3E8CD4-4E78-44D6-8755-E46F1D69FCCE}" srcOrd="0" destOrd="2" presId="urn:microsoft.com/office/officeart/2005/8/layout/vList2"/>
    <dgm:cxn modelId="{03B534DD-D4EF-4214-945C-0B3ECA10AA6E}" type="presOf" srcId="{0156636B-330E-44FB-B0BE-7D4A16C1B562}" destId="{7D3E8CD4-4E78-44D6-8755-E46F1D69FCCE}" srcOrd="0" destOrd="4" presId="urn:microsoft.com/office/officeart/2005/8/layout/vList2"/>
    <dgm:cxn modelId="{3DEC0ADF-5ABA-40DE-905F-D990BEF2C44C}" type="presOf" srcId="{9BDF63C2-7FC3-4912-ABA5-1BD45B09B5B5}" destId="{7D3E8CD4-4E78-44D6-8755-E46F1D69FCCE}" srcOrd="0" destOrd="0" presId="urn:microsoft.com/office/officeart/2005/8/layout/vList2"/>
    <dgm:cxn modelId="{E8FB66E1-2FE9-45B4-A5BD-07A74C5BAEB4}" srcId="{D90CABD8-301C-472E-88DB-30E51F4549EA}" destId="{EDB5CD01-F201-4D00-A9FB-12D50C2D1240}" srcOrd="2" destOrd="0" parTransId="{288245C5-4423-4B00-B27F-89FEDF8D5CD3}" sibTransId="{2E21FDD8-7E59-47DB-95BE-07216BEB888E}"/>
    <dgm:cxn modelId="{F697B9FC-9D40-4113-9176-83E0EDE2405E}" srcId="{FBF2C9E2-BA1E-4E6E-AFD0-A642C46222E7}" destId="{E4732948-E696-4E64-8FED-901C134FCF0A}" srcOrd="0" destOrd="0" parTransId="{82DF8D91-DAFC-4631-917A-93919859FFCF}" sibTransId="{A57FA8C4-39E9-4501-B5FB-D4BC4416364B}"/>
    <dgm:cxn modelId="{9B53F363-B522-4B06-BCC1-DCD7D8FFA553}" type="presParOf" srcId="{05A5883B-7646-417A-9C6C-07F33642481D}" destId="{B9BA302C-99DA-41FC-8FAE-225D31082071}" srcOrd="0" destOrd="0" presId="urn:microsoft.com/office/officeart/2005/8/layout/vList2"/>
    <dgm:cxn modelId="{FD06D072-5154-461B-BEFA-3ACA3F9D517A}" type="presParOf" srcId="{05A5883B-7646-417A-9C6C-07F33642481D}" destId="{7D3E8CD4-4E78-44D6-8755-E46F1D69FCCE}" srcOrd="1" destOrd="0" presId="urn:microsoft.com/office/officeart/2005/8/layout/vList2"/>
    <dgm:cxn modelId="{70E36555-F7A3-4824-9D5B-75E67481B23E}" type="presParOf" srcId="{05A5883B-7646-417A-9C6C-07F33642481D}" destId="{7C67C434-0470-4AA7-A3B2-A2BABF2C5F82}" srcOrd="2" destOrd="0" presId="urn:microsoft.com/office/officeart/2005/8/layout/vList2"/>
    <dgm:cxn modelId="{94AAAF9A-C186-4BDF-BCB4-E86D5FC8960B}" type="presParOf" srcId="{05A5883B-7646-417A-9C6C-07F33642481D}" destId="{C4F70641-616A-4247-B7B6-B6B57EAE27D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A302C-99DA-41FC-8FAE-225D31082071}">
      <dsp:nvSpPr>
        <dsp:cNvPr id="0" name=""/>
        <dsp:cNvSpPr/>
      </dsp:nvSpPr>
      <dsp:spPr>
        <a:xfrm>
          <a:off x="0" y="227516"/>
          <a:ext cx="8074404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Central piece – CFG AI Platform</a:t>
          </a:r>
          <a:endParaRPr lang="en-US" sz="2100" kern="1200"/>
        </a:p>
      </dsp:txBody>
      <dsp:txXfrm>
        <a:off x="25188" y="252704"/>
        <a:ext cx="8024028" cy="465594"/>
      </dsp:txXfrm>
    </dsp:sp>
    <dsp:sp modelId="{7D3E8CD4-4E78-44D6-8755-E46F1D69FCCE}">
      <dsp:nvSpPr>
        <dsp:cNvPr id="0" name=""/>
        <dsp:cNvSpPr/>
      </dsp:nvSpPr>
      <dsp:spPr>
        <a:xfrm>
          <a:off x="0" y="743486"/>
          <a:ext cx="8074404" cy="165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36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“Brain” and </a:t>
          </a:r>
          <a:r>
            <a:rPr lang="en-US" sz="1600" b="1" kern="1200"/>
            <a:t>control plane</a:t>
          </a:r>
          <a:r>
            <a:rPr lang="en-US" sz="1600" kern="1200"/>
            <a:t> for agentic AI.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Hosts the most sensitive models; enforces red-teaming, monitoring, and audit.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Orchestrates across: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Core banking &amp; risk systems,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kern="1200"/>
            <a:t>UiPath</a:t>
          </a:r>
          <a:r>
            <a:rPr lang="en-US" sz="1600" kern="1200"/>
            <a:t> bots (for RPA/process tasks),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kern="1200"/>
            <a:t>Copilot Studio</a:t>
          </a:r>
          <a:r>
            <a:rPr lang="en-US" sz="1600" kern="1200"/>
            <a:t> agents (for M365-centric knowledge &amp; light actions).</a:t>
          </a:r>
        </a:p>
      </dsp:txBody>
      <dsp:txXfrm>
        <a:off x="0" y="743486"/>
        <a:ext cx="8074404" cy="1651860"/>
      </dsp:txXfrm>
    </dsp:sp>
    <dsp:sp modelId="{7C67C434-0470-4AA7-A3B2-A2BABF2C5F82}">
      <dsp:nvSpPr>
        <dsp:cNvPr id="0" name=""/>
        <dsp:cNvSpPr/>
      </dsp:nvSpPr>
      <dsp:spPr>
        <a:xfrm>
          <a:off x="0" y="2395346"/>
          <a:ext cx="8074404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Domain Platforms (Integrated, not competing)</a:t>
          </a:r>
          <a:endParaRPr lang="en-US" sz="2100" kern="1200"/>
        </a:p>
      </dsp:txBody>
      <dsp:txXfrm>
        <a:off x="25188" y="2420534"/>
        <a:ext cx="8024028" cy="465594"/>
      </dsp:txXfrm>
    </dsp:sp>
    <dsp:sp modelId="{C4F70641-616A-4247-B7B6-B6B57EAE27D6}">
      <dsp:nvSpPr>
        <dsp:cNvPr id="0" name=""/>
        <dsp:cNvSpPr/>
      </dsp:nvSpPr>
      <dsp:spPr>
        <a:xfrm>
          <a:off x="0" y="2911315"/>
          <a:ext cx="8074404" cy="1108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36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kern="1200"/>
            <a:t>UiPath</a:t>
          </a:r>
          <a:r>
            <a:rPr lang="en-US" sz="1600" kern="1200"/>
            <a:t> → </a:t>
          </a:r>
          <a:r>
            <a:rPr lang="en-US" sz="1600" i="1" kern="1200"/>
            <a:t>Execution engine for structured, high-volume processes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KYC document handling, account maintenance, reconciliations, report runs, etc.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kern="1200"/>
            <a:t>Copilot Studio</a:t>
          </a:r>
          <a:r>
            <a:rPr lang="en-US" sz="1600" kern="1200"/>
            <a:t> → </a:t>
          </a:r>
          <a:r>
            <a:rPr lang="en-US" sz="1600" i="1" kern="1200"/>
            <a:t>Interaction + knowledge layer in M365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IT/HR self-service, policy Q&amp;A, “how do I” questions, guided front-office support.</a:t>
          </a:r>
        </a:p>
      </dsp:txBody>
      <dsp:txXfrm>
        <a:off x="0" y="2911315"/>
        <a:ext cx="8074404" cy="1108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048A-08AC-2856-D999-5DB30A994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884AC-6F30-6524-97A6-1A631E711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79617-4C32-B8F1-59D0-0904B36C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6872D-C100-D4FC-C6F9-AAEBEC3C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D55CF-A4AC-C350-197B-5882147F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0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3347-6E95-E665-D4A5-30062105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2F40D-D36C-74B4-5A4D-F37AE2B46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04AD-322D-9C80-FA27-7157CF6A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2B315-FEC1-6096-6523-96A6B7C6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61AC3-B7B6-6ECF-7BC8-D7FD985C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4D2A-C9F2-B8BF-87F8-8C6C0594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D316-B15A-9B98-D59A-3E3B09840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203A0-89F9-47F5-0A35-DD8608F9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15B55-499D-8ECD-5D98-B8989EEB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EC83-B195-FBDE-12AC-B98E565D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01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56D5-F1AF-FF85-D091-16830159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F8838-45A7-417A-B768-A62DADA24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DE875-F2C2-383E-A5C8-48718BBE6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3EAC3-5DC2-44C1-D103-31435AE56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F5257-4EA1-4B27-0214-53198BE0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EB802-C8BB-4920-E8EF-AC2B2B3B2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6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5A2F-A931-143C-7ACC-A127CC00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F4906-5C2B-DB9A-2447-9545FE382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87035-59CA-B026-A7B1-94F0C7960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1D2A2F-1745-D34B-F0AF-3D5408F66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DAC33-9E6F-73CF-091D-917CE09A2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72512E-D572-8413-CA60-47E3CA11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73947F-294D-C947-915F-3DBDD3E0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8789AA-002E-11AF-4E81-8397F4A1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5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5FC4-2F86-C1DA-0CDA-63FFC305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A81CC-2D6B-DC22-5879-E5CAAE78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FF5B1-B6AB-DC28-9DAF-4B0B1C64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745CC-4A51-5B7C-1886-955AFD53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67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253FF3-5B00-A184-F0B8-E062DFD81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4F398-B9BE-DB52-9EEB-365C758E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13E0B-02D4-E410-2AFA-ED7C98A7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70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E613-1015-010C-980F-962CFFC2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5EED-30CA-7C12-1185-8E63F8A67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B6A4B-84FE-57AD-EA44-FE10CB765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2E2EE-4F7B-2B5E-1ECE-FE3D98DA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A67CF-9D94-1860-D108-058F3FB6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A2755-A846-78DF-5F6B-AE7B9CF0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5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7B9F-A7AD-2197-207E-85324A539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5F5D3-8698-AC83-5773-0CCEDD7B2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74F53-6AD6-F810-A805-A545E4AEE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A7A70-EFE2-3985-6A34-3CA55914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6F983-948B-E52C-569D-B066BE53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2BB15-57D0-6BF2-F686-A747B58F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1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EC7A-11DF-6522-423F-A91B48C91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33975-7AFC-F25A-2275-DDEE07ADD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7A843-5C9D-A9BA-E680-32585E807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00DD0-F44B-2043-D577-52003958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6BA10-C306-7F45-42A2-CCBE4113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9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110621-2545-21EC-9706-6D87B711F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F86B5-38B6-05B4-6A95-E7A579ECF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DD3C0-543D-2C51-2015-997049CF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9FDE-19EA-0648-AAE8-3B7A381C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F06D9-5239-DC50-2CDD-77508AF7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7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0A58AC-1551-D6AA-05F7-4EADE98F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78643-AC56-452A-4C50-89031C941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6C3B1-22A2-D4BC-12D0-F9011A7F6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0891A-00FF-4CA7-913F-B204C0EC2F1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024C2-7FD4-F8C4-364D-1E5A5159A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58EF9-6DD4-D0B0-53F6-90197B921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88CE2-D1EF-4614-A714-0AEE00EF3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0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6D855-86E5-A92D-C2E8-4AEB1410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3EB3F-6F9D-2C7A-ADE2-F15A048F1CD9}"/>
              </a:ext>
            </a:extLst>
          </p:cNvPr>
          <p:cNvSpPr txBox="1"/>
          <p:nvPr/>
        </p:nvSpPr>
        <p:spPr>
          <a:xfrm>
            <a:off x="3801035" y="2613212"/>
            <a:ext cx="4881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9727B8-88C4-73C6-7D6E-C820816529DD}"/>
              </a:ext>
            </a:extLst>
          </p:cNvPr>
          <p:cNvSpPr txBox="1"/>
          <p:nvPr/>
        </p:nvSpPr>
        <p:spPr>
          <a:xfrm>
            <a:off x="784371" y="1443661"/>
            <a:ext cx="1085535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End-to-end conversational / agentic platform to design, test, and publish AI agents (copilots) using a no-code / low-code interface or pro-developer tools.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Agents can be embedded in Microsoft 365 Copilot (Teams, Outlook, SharePoint, M365 Chat) or exposed as standalone experiences/APIs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Uses Generative AI for </a:t>
            </a:r>
            <a:r>
              <a:rPr lang="en-US" sz="1400" b="1" dirty="0"/>
              <a:t>multi-agent orchestration</a:t>
            </a:r>
            <a:r>
              <a:rPr lang="en-US" sz="1400" dirty="0"/>
              <a:t> across tools, topics, and internal/external data sources.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Provides analytics &amp; insights on conversations and generative answers to refine topics, tools, and knowledge.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05BA29-C629-159C-78AB-70D3BFC3DD49}"/>
              </a:ext>
            </a:extLst>
          </p:cNvPr>
          <p:cNvSpPr txBox="1"/>
          <p:nvPr/>
        </p:nvSpPr>
        <p:spPr>
          <a:xfrm>
            <a:off x="967738" y="2729377"/>
            <a:ext cx="55630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00B050"/>
                </a:solidFill>
              </a:rPr>
              <a:t>Pros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Deep integration is ideal for knowledge workers in risk, compliance, and operations—agents live where employees 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Supports the "Agentic Fabric" vision by allowing specialized agents to be composed into larger, sophisticated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Leverages existing Entra ID and tenant controls, with a strong roadmap emphasizing centralized governance and standardized deployment.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6FD365-9401-9BD2-7615-EADBD9087090}"/>
              </a:ext>
            </a:extLst>
          </p:cNvPr>
          <p:cNvSpPr txBox="1"/>
          <p:nvPr/>
        </p:nvSpPr>
        <p:spPr>
          <a:xfrm>
            <a:off x="6781452" y="2729377"/>
            <a:ext cx="477018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FF0000"/>
                </a:solidFill>
              </a:rPr>
              <a:t>Cons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Requires heavy M365/Azure investment; integration to </a:t>
            </a:r>
            <a:r>
              <a:rPr lang="en-US" sz="1000" b="1" dirty="0">
                <a:solidFill>
                  <a:srgbClr val="FF0000"/>
                </a:solidFill>
              </a:rPr>
              <a:t>legacy core banking/mainframes</a:t>
            </a:r>
            <a:r>
              <a:rPr lang="en-US" sz="1000" dirty="0">
                <a:solidFill>
                  <a:srgbClr val="FF0000"/>
                </a:solidFill>
              </a:rPr>
              <a:t> demands middleware.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Features like multi-agent orchestration are </a:t>
            </a:r>
            <a:r>
              <a:rPr lang="en-US" sz="1000" b="1" dirty="0">
                <a:solidFill>
                  <a:srgbClr val="FF0000"/>
                </a:solidFill>
              </a:rPr>
              <a:t>new/evolving</a:t>
            </a:r>
            <a:r>
              <a:rPr lang="en-US" sz="1000" dirty="0">
                <a:solidFill>
                  <a:srgbClr val="FF0000"/>
                </a:solidFill>
              </a:rPr>
              <a:t> (public preview), requiring conservative rollout and model-risk oversight.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Weak governance poses a risk of security misconfiguration and potential abuse (e.g., token leakage).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30BC096-2F9A-9C0C-A4D9-10505DD76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71409"/>
              </p:ext>
            </p:extLst>
          </p:nvPr>
        </p:nvGraphicFramePr>
        <p:xfrm>
          <a:off x="880844" y="4027473"/>
          <a:ext cx="8674100" cy="257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3014561468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1927920747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3509510257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2367604542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Factor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Weight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Score*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Comment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30163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Strategic Differentiation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Can become a cross-LOB knowledge + workflow layer (agents for risk, ops, HR, front-office support) inside tools everyone uses daily.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80093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Risk, Compliance &amp; Control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Strong enterprise controls &amp; tenant governance; but multi-agent + “computer use” are new and require tight guardrails and mitigation of CoPhish-style risks.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69503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Tech &amp; Integration Fit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Excellent where M365 + Azure are standard; needs connectors/middleware for mainframes &amp; niche banking systems.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531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Talent &amp; Operating Model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Mix of citizen-dev (CoE-guided) and pro-dev fits how many banks run Power Platform today.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60622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Economics &amp; Time-to-Value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Fast time-to-value by reusing existing M365 licenses, data, and interfaces; incremental cost vs net-new SaaS.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4197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Reuse &amp; Platform Leverage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4.5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Agents and sub-agents can be reused across HR, IT, Ops, Risk, front office inside Copilot; strong platform leverage if standardized.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59140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B50BEDE-D2CF-A845-164C-48BBBD510DBF}"/>
              </a:ext>
            </a:extLst>
          </p:cNvPr>
          <p:cNvSpPr txBox="1"/>
          <p:nvPr/>
        </p:nvSpPr>
        <p:spPr>
          <a:xfrm>
            <a:off x="10242958" y="422385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4.15</a:t>
            </a:r>
          </a:p>
        </p:txBody>
      </p:sp>
    </p:spTree>
    <p:extLst>
      <p:ext uri="{BB962C8B-B14F-4D97-AF65-F5344CB8AC3E}">
        <p14:creationId xmlns:p14="http://schemas.microsoft.com/office/powerpoint/2010/main" val="198541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8B74-DF29-7A4F-1173-7DD425FA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B415FE9-4873-EB03-D062-18D06C2E8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99" b="6606"/>
          <a:stretch>
            <a:fillRect/>
          </a:stretch>
        </p:blipFill>
        <p:spPr bwMode="auto">
          <a:xfrm>
            <a:off x="2841974" y="1279321"/>
            <a:ext cx="5516563" cy="467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19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38CCC33-83E8-C96A-08A4-9D424A876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743" y="1087390"/>
            <a:ext cx="8157523" cy="460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C4E5A1-3422-3E6C-5AB1-D606BD92D492}"/>
              </a:ext>
            </a:extLst>
          </p:cNvPr>
          <p:cNvSpPr txBox="1"/>
          <p:nvPr/>
        </p:nvSpPr>
        <p:spPr>
          <a:xfrm>
            <a:off x="3048000" y="51242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Neither should be stretched to be our </a:t>
            </a:r>
            <a:r>
              <a:rPr lang="en-US" b="1" dirty="0"/>
              <a:t>only</a:t>
            </a:r>
            <a:r>
              <a:rPr lang="en-US" dirty="0"/>
              <a:t> enterprise agentic platform.</a:t>
            </a:r>
          </a:p>
        </p:txBody>
      </p:sp>
    </p:spTree>
    <p:extLst>
      <p:ext uri="{BB962C8B-B14F-4D97-AF65-F5344CB8AC3E}">
        <p14:creationId xmlns:p14="http://schemas.microsoft.com/office/powerpoint/2010/main" val="134001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4F3A-F879-9A67-B1E2-EFD33A159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 Architecture</a:t>
            </a:r>
            <a:endParaRPr lang="en-US" dirty="0"/>
          </a:p>
        </p:txBody>
      </p:sp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B4B36AEF-876C-D4C4-35FF-CFA0C4C868F5}"/>
              </a:ext>
            </a:extLst>
          </p:cNvPr>
          <p:cNvGraphicFramePr/>
          <p:nvPr/>
        </p:nvGraphicFramePr>
        <p:xfrm>
          <a:off x="1249959" y="1862967"/>
          <a:ext cx="8074404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524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2BE5-2FA1-9232-0500-5F2221AE7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89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518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Aptos Narrow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Target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Kalantari, Navid</dc:creator>
  <cp:lastModifiedBy>Kalantari, Navid</cp:lastModifiedBy>
  <cp:revision>1</cp:revision>
  <dcterms:created xsi:type="dcterms:W3CDTF">2025-11-18T23:13:16Z</dcterms:created>
  <dcterms:modified xsi:type="dcterms:W3CDTF">2025-11-19T15:54:15Z</dcterms:modified>
</cp:coreProperties>
</file>